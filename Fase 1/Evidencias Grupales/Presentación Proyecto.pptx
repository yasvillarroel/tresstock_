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Bogart Bold" charset="1" panose="00000800000000000000"/>
      <p:regular r:id="rId25"/>
    </p:embeddedFont>
    <p:embeddedFont>
      <p:font typeface="Bogart" charset="1" panose="00000500000000000000"/>
      <p:regular r:id="rId26"/>
    </p:embeddedFont>
    <p:embeddedFont>
      <p:font typeface="Batangas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svg" Type="http://schemas.openxmlformats.org/officeDocument/2006/relationships/image"/><Relationship Id="rId16" Target="../media/image59.png" Type="http://schemas.openxmlformats.org/officeDocument/2006/relationships/image"/><Relationship Id="rId17" Target="../media/image60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jpeg" Type="http://schemas.openxmlformats.org/officeDocument/2006/relationships/image"/><Relationship Id="rId3" Target="../media/image68.jpeg" Type="http://schemas.openxmlformats.org/officeDocument/2006/relationships/image"/><Relationship Id="rId4" Target="../media/image6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jpeg" Type="http://schemas.openxmlformats.org/officeDocument/2006/relationships/image"/><Relationship Id="rId3" Target="../media/image71.jpeg" Type="http://schemas.openxmlformats.org/officeDocument/2006/relationships/image"/><Relationship Id="rId4" Target="../media/image72.jpeg" Type="http://schemas.openxmlformats.org/officeDocument/2006/relationships/image"/><Relationship Id="rId5" Target="../media/image7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jpeg" Type="http://schemas.openxmlformats.org/officeDocument/2006/relationships/image"/><Relationship Id="rId3" Target="../media/image75.jpeg" Type="http://schemas.openxmlformats.org/officeDocument/2006/relationships/image"/><Relationship Id="rId4" Target="../media/image7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90365"/>
            <a:ext cx="162306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TresStock - Sistema de Gestión de Inventario para Minimarket “Los Tres”, Puerto Montt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6172200"/>
            <a:ext cx="4394980" cy="4114800"/>
          </a:xfrm>
          <a:custGeom>
            <a:avLst/>
            <a:gdLst/>
            <a:ahLst/>
            <a:cxnLst/>
            <a:rect r="r" b="b" t="t" l="l"/>
            <a:pathLst>
              <a:path h="4114800" w="4394980">
                <a:moveTo>
                  <a:pt x="0" y="0"/>
                </a:moveTo>
                <a:lnTo>
                  <a:pt x="4394980" y="0"/>
                </a:lnTo>
                <a:lnTo>
                  <a:pt x="43949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3112151" y="-478849"/>
            <a:ext cx="5175849" cy="4114800"/>
          </a:xfrm>
          <a:custGeom>
            <a:avLst/>
            <a:gdLst/>
            <a:ahLst/>
            <a:cxnLst/>
            <a:rect r="r" b="b" t="t" l="l"/>
            <a:pathLst>
              <a:path h="4114800" w="5175849">
                <a:moveTo>
                  <a:pt x="0" y="0"/>
                </a:moveTo>
                <a:lnTo>
                  <a:pt x="5175849" y="0"/>
                </a:lnTo>
                <a:lnTo>
                  <a:pt x="51758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18361" y="1028700"/>
            <a:ext cx="9851277" cy="1716153"/>
            <a:chOff x="0" y="0"/>
            <a:chExt cx="13135037" cy="22882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29028" cy="2288204"/>
            </a:xfrm>
            <a:custGeom>
              <a:avLst/>
              <a:gdLst/>
              <a:ahLst/>
              <a:cxnLst/>
              <a:rect r="r" b="b" t="t" l="l"/>
              <a:pathLst>
                <a:path h="2288204" w="8529028">
                  <a:moveTo>
                    <a:pt x="0" y="0"/>
                  </a:moveTo>
                  <a:lnTo>
                    <a:pt x="8529028" y="0"/>
                  </a:lnTo>
                  <a:lnTo>
                    <a:pt x="8529028" y="2288204"/>
                  </a:lnTo>
                  <a:lnTo>
                    <a:pt x="0" y="228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47" t="-12562" r="-52074" b="-1465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721729" y="0"/>
              <a:ext cx="4413308" cy="2288204"/>
            </a:xfrm>
            <a:custGeom>
              <a:avLst/>
              <a:gdLst/>
              <a:ahLst/>
              <a:cxnLst/>
              <a:rect r="r" b="b" t="t" l="l"/>
              <a:pathLst>
                <a:path h="2288204" w="4413308">
                  <a:moveTo>
                    <a:pt x="0" y="0"/>
                  </a:moveTo>
                  <a:lnTo>
                    <a:pt x="4413308" y="0"/>
                  </a:lnTo>
                  <a:lnTo>
                    <a:pt x="4413308" y="2288204"/>
                  </a:lnTo>
                  <a:lnTo>
                    <a:pt x="0" y="228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3597" t="-39744" r="-4530" b="-5192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57472" y="7608901"/>
            <a:ext cx="9173056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Integrantes</a:t>
            </a:r>
            <a:r>
              <a:rPr lang="en-US" sz="2699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: Sebastián Carrera, Yasna Villarroel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Docente: Aníbal Faúndez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Carrera: Ingeniería en Informática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Sede: Puerto Montt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31 de Agosto,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7281" y="1634825"/>
            <a:ext cx="14101896" cy="2772796"/>
            <a:chOff x="0" y="0"/>
            <a:chExt cx="2803644" cy="5512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3644" cy="551269"/>
            </a:xfrm>
            <a:custGeom>
              <a:avLst/>
              <a:gdLst/>
              <a:ahLst/>
              <a:cxnLst/>
              <a:rect r="r" b="b" t="t" l="l"/>
              <a:pathLst>
                <a:path h="551269" w="2803644">
                  <a:moveTo>
                    <a:pt x="21411" y="0"/>
                  </a:moveTo>
                  <a:lnTo>
                    <a:pt x="2782233" y="0"/>
                  </a:lnTo>
                  <a:cubicBezTo>
                    <a:pt x="2794058" y="0"/>
                    <a:pt x="2803644" y="9586"/>
                    <a:pt x="2803644" y="21411"/>
                  </a:cubicBezTo>
                  <a:lnTo>
                    <a:pt x="2803644" y="529858"/>
                  </a:lnTo>
                  <a:cubicBezTo>
                    <a:pt x="2803644" y="541683"/>
                    <a:pt x="2794058" y="551269"/>
                    <a:pt x="2782233" y="551269"/>
                  </a:cubicBezTo>
                  <a:lnTo>
                    <a:pt x="21411" y="551269"/>
                  </a:lnTo>
                  <a:cubicBezTo>
                    <a:pt x="9586" y="551269"/>
                    <a:pt x="0" y="541683"/>
                    <a:pt x="0" y="529858"/>
                  </a:cubicBezTo>
                  <a:lnTo>
                    <a:pt x="0" y="21411"/>
                  </a:lnTo>
                  <a:cubicBezTo>
                    <a:pt x="0" y="9586"/>
                    <a:pt x="9586" y="0"/>
                    <a:pt x="21411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03644" cy="608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8823" y="1880317"/>
            <a:ext cx="2681565" cy="2281811"/>
            <a:chOff x="0" y="0"/>
            <a:chExt cx="923756" cy="7860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3756" cy="786047"/>
            </a:xfrm>
            <a:custGeom>
              <a:avLst/>
              <a:gdLst/>
              <a:ahLst/>
              <a:cxnLst/>
              <a:rect r="r" b="b" t="t" l="l"/>
              <a:pathLst>
                <a:path h="786047" w="923756">
                  <a:moveTo>
                    <a:pt x="112597" y="0"/>
                  </a:moveTo>
                  <a:lnTo>
                    <a:pt x="811159" y="0"/>
                  </a:lnTo>
                  <a:cubicBezTo>
                    <a:pt x="873345" y="0"/>
                    <a:pt x="923756" y="50411"/>
                    <a:pt x="923756" y="112597"/>
                  </a:cubicBezTo>
                  <a:lnTo>
                    <a:pt x="923756" y="673451"/>
                  </a:lnTo>
                  <a:cubicBezTo>
                    <a:pt x="923756" y="735636"/>
                    <a:pt x="873345" y="786047"/>
                    <a:pt x="811159" y="786047"/>
                  </a:cubicBezTo>
                  <a:lnTo>
                    <a:pt x="112597" y="786047"/>
                  </a:lnTo>
                  <a:cubicBezTo>
                    <a:pt x="50411" y="786047"/>
                    <a:pt x="0" y="735636"/>
                    <a:pt x="0" y="673451"/>
                  </a:cubicBezTo>
                  <a:lnTo>
                    <a:pt x="0" y="112597"/>
                  </a:lnTo>
                  <a:cubicBezTo>
                    <a:pt x="0" y="50411"/>
                    <a:pt x="50411" y="0"/>
                    <a:pt x="112597" y="0"/>
                  </a:cubicBezTo>
                  <a:close/>
                </a:path>
              </a:pathLst>
            </a:custGeom>
            <a:solidFill>
              <a:srgbClr val="023370"/>
            </a:solidFill>
            <a:ln w="19050" cap="rnd">
              <a:solidFill>
                <a:srgbClr val="CAE1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23756" cy="843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78823" y="1880317"/>
            <a:ext cx="2681565" cy="2225149"/>
          </a:xfrm>
          <a:custGeom>
            <a:avLst/>
            <a:gdLst/>
            <a:ahLst/>
            <a:cxnLst/>
            <a:rect r="r" b="b" t="t" l="l"/>
            <a:pathLst>
              <a:path h="2225149" w="2681565">
                <a:moveTo>
                  <a:pt x="0" y="0"/>
                </a:moveTo>
                <a:lnTo>
                  <a:pt x="2681565" y="0"/>
                </a:lnTo>
                <a:lnTo>
                  <a:pt x="2681565" y="2225150"/>
                </a:lnTo>
                <a:lnTo>
                  <a:pt x="0" y="2225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268" r="0" b="-10243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65280" y="4645338"/>
            <a:ext cx="4884003" cy="5447251"/>
            <a:chOff x="0" y="0"/>
            <a:chExt cx="971005" cy="10829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1005" cy="1082986"/>
            </a:xfrm>
            <a:custGeom>
              <a:avLst/>
              <a:gdLst/>
              <a:ahLst/>
              <a:cxnLst/>
              <a:rect r="r" b="b" t="t" l="l"/>
              <a:pathLst>
                <a:path h="1082986" w="971005">
                  <a:moveTo>
                    <a:pt x="61821" y="0"/>
                  </a:moveTo>
                  <a:lnTo>
                    <a:pt x="909183" y="0"/>
                  </a:lnTo>
                  <a:cubicBezTo>
                    <a:pt x="925579" y="0"/>
                    <a:pt x="941304" y="6513"/>
                    <a:pt x="952898" y="18107"/>
                  </a:cubicBezTo>
                  <a:cubicBezTo>
                    <a:pt x="964491" y="29701"/>
                    <a:pt x="971005" y="45425"/>
                    <a:pt x="971005" y="61821"/>
                  </a:cubicBezTo>
                  <a:lnTo>
                    <a:pt x="971005" y="1021165"/>
                  </a:lnTo>
                  <a:cubicBezTo>
                    <a:pt x="971005" y="1055308"/>
                    <a:pt x="943326" y="1082986"/>
                    <a:pt x="909183" y="1082986"/>
                  </a:cubicBezTo>
                  <a:lnTo>
                    <a:pt x="61821" y="1082986"/>
                  </a:lnTo>
                  <a:cubicBezTo>
                    <a:pt x="27678" y="1082986"/>
                    <a:pt x="0" y="1055308"/>
                    <a:pt x="0" y="1021165"/>
                  </a:cubicBezTo>
                  <a:lnTo>
                    <a:pt x="0" y="61821"/>
                  </a:lnTo>
                  <a:cubicBezTo>
                    <a:pt x="0" y="27678"/>
                    <a:pt x="27678" y="0"/>
                    <a:pt x="61821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71005" cy="1140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94732" y="5429182"/>
            <a:ext cx="683498" cy="563886"/>
          </a:xfrm>
          <a:custGeom>
            <a:avLst/>
            <a:gdLst/>
            <a:ahLst/>
            <a:cxnLst/>
            <a:rect r="r" b="b" t="t" l="l"/>
            <a:pathLst>
              <a:path h="563886" w="683498">
                <a:moveTo>
                  <a:pt x="0" y="0"/>
                </a:moveTo>
                <a:lnTo>
                  <a:pt x="683498" y="0"/>
                </a:lnTo>
                <a:lnTo>
                  <a:pt x="683498" y="563885"/>
                </a:lnTo>
                <a:lnTo>
                  <a:pt x="0" y="5638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4732" y="6236171"/>
            <a:ext cx="686663" cy="439464"/>
          </a:xfrm>
          <a:custGeom>
            <a:avLst/>
            <a:gdLst/>
            <a:ahLst/>
            <a:cxnLst/>
            <a:rect r="r" b="b" t="t" l="l"/>
            <a:pathLst>
              <a:path h="439464" w="686663">
                <a:moveTo>
                  <a:pt x="0" y="0"/>
                </a:moveTo>
                <a:lnTo>
                  <a:pt x="686663" y="0"/>
                </a:lnTo>
                <a:lnTo>
                  <a:pt x="686663" y="439464"/>
                </a:lnTo>
                <a:lnTo>
                  <a:pt x="0" y="439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94732" y="6904642"/>
            <a:ext cx="683498" cy="584391"/>
          </a:xfrm>
          <a:custGeom>
            <a:avLst/>
            <a:gdLst/>
            <a:ahLst/>
            <a:cxnLst/>
            <a:rect r="r" b="b" t="t" l="l"/>
            <a:pathLst>
              <a:path h="584391" w="683498">
                <a:moveTo>
                  <a:pt x="0" y="0"/>
                </a:moveTo>
                <a:lnTo>
                  <a:pt x="683498" y="0"/>
                </a:lnTo>
                <a:lnTo>
                  <a:pt x="683498" y="584391"/>
                </a:lnTo>
                <a:lnTo>
                  <a:pt x="0" y="58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4732" y="7666414"/>
            <a:ext cx="686663" cy="545897"/>
          </a:xfrm>
          <a:custGeom>
            <a:avLst/>
            <a:gdLst/>
            <a:ahLst/>
            <a:cxnLst/>
            <a:rect r="r" b="b" t="t" l="l"/>
            <a:pathLst>
              <a:path h="545897" w="686663">
                <a:moveTo>
                  <a:pt x="0" y="0"/>
                </a:moveTo>
                <a:lnTo>
                  <a:pt x="686663" y="0"/>
                </a:lnTo>
                <a:lnTo>
                  <a:pt x="686663" y="545897"/>
                </a:lnTo>
                <a:lnTo>
                  <a:pt x="0" y="5458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05768" y="8376625"/>
            <a:ext cx="461426" cy="603171"/>
          </a:xfrm>
          <a:custGeom>
            <a:avLst/>
            <a:gdLst/>
            <a:ahLst/>
            <a:cxnLst/>
            <a:rect r="r" b="b" t="t" l="l"/>
            <a:pathLst>
              <a:path h="603171" w="461426">
                <a:moveTo>
                  <a:pt x="0" y="0"/>
                </a:moveTo>
                <a:lnTo>
                  <a:pt x="461426" y="0"/>
                </a:lnTo>
                <a:lnTo>
                  <a:pt x="461426" y="603171"/>
                </a:lnTo>
                <a:lnTo>
                  <a:pt x="0" y="6031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94732" y="9144110"/>
            <a:ext cx="681011" cy="720647"/>
          </a:xfrm>
          <a:custGeom>
            <a:avLst/>
            <a:gdLst/>
            <a:ahLst/>
            <a:cxnLst/>
            <a:rect r="r" b="b" t="t" l="l"/>
            <a:pathLst>
              <a:path h="720647" w="681011">
                <a:moveTo>
                  <a:pt x="0" y="0"/>
                </a:moveTo>
                <a:lnTo>
                  <a:pt x="681012" y="0"/>
                </a:lnTo>
                <a:lnTo>
                  <a:pt x="681012" y="720647"/>
                </a:lnTo>
                <a:lnTo>
                  <a:pt x="0" y="7206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701999" y="4645338"/>
            <a:ext cx="4884003" cy="5447251"/>
            <a:chOff x="0" y="0"/>
            <a:chExt cx="971005" cy="10829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1005" cy="1082986"/>
            </a:xfrm>
            <a:custGeom>
              <a:avLst/>
              <a:gdLst/>
              <a:ahLst/>
              <a:cxnLst/>
              <a:rect r="r" b="b" t="t" l="l"/>
              <a:pathLst>
                <a:path h="1082986" w="971005">
                  <a:moveTo>
                    <a:pt x="61821" y="0"/>
                  </a:moveTo>
                  <a:lnTo>
                    <a:pt x="909183" y="0"/>
                  </a:lnTo>
                  <a:cubicBezTo>
                    <a:pt x="925579" y="0"/>
                    <a:pt x="941304" y="6513"/>
                    <a:pt x="952898" y="18107"/>
                  </a:cubicBezTo>
                  <a:cubicBezTo>
                    <a:pt x="964491" y="29701"/>
                    <a:pt x="971005" y="45425"/>
                    <a:pt x="971005" y="61821"/>
                  </a:cubicBezTo>
                  <a:lnTo>
                    <a:pt x="971005" y="1021165"/>
                  </a:lnTo>
                  <a:cubicBezTo>
                    <a:pt x="971005" y="1055308"/>
                    <a:pt x="943326" y="1082986"/>
                    <a:pt x="909183" y="1082986"/>
                  </a:cubicBezTo>
                  <a:lnTo>
                    <a:pt x="61821" y="1082986"/>
                  </a:lnTo>
                  <a:cubicBezTo>
                    <a:pt x="27678" y="1082986"/>
                    <a:pt x="0" y="1055308"/>
                    <a:pt x="0" y="1021165"/>
                  </a:cubicBezTo>
                  <a:lnTo>
                    <a:pt x="0" y="61821"/>
                  </a:lnTo>
                  <a:cubicBezTo>
                    <a:pt x="0" y="27678"/>
                    <a:pt x="27678" y="0"/>
                    <a:pt x="61821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71005" cy="1140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120139" y="8315916"/>
            <a:ext cx="1936051" cy="1548841"/>
          </a:xfrm>
          <a:custGeom>
            <a:avLst/>
            <a:gdLst/>
            <a:ahLst/>
            <a:cxnLst/>
            <a:rect r="r" b="b" t="t" l="l"/>
            <a:pathLst>
              <a:path h="1548841" w="1936051">
                <a:moveTo>
                  <a:pt x="0" y="0"/>
                </a:moveTo>
                <a:lnTo>
                  <a:pt x="1936051" y="0"/>
                </a:lnTo>
                <a:lnTo>
                  <a:pt x="1936051" y="1548841"/>
                </a:lnTo>
                <a:lnTo>
                  <a:pt x="0" y="154884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856446" y="527147"/>
            <a:ext cx="12575107" cy="71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1"/>
              </a:lnSpc>
            </a:pPr>
            <a:r>
              <a:rPr lang="en-US" b="true" sz="57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Descripción del proyecto APT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924660" y="1964407"/>
            <a:ext cx="13467137" cy="19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</a:pPr>
            <a:r>
              <a:rPr lang="en-US" b="true" sz="2818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TresStock</a:t>
            </a:r>
            <a:r>
              <a:rPr lang="en-US" sz="2818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es un sistema de </a:t>
            </a:r>
            <a:r>
              <a:rPr lang="en-US" b="true" sz="2818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gestión y control de inventario para el minimarket “Los Tres”</a:t>
            </a:r>
            <a:r>
              <a:rPr lang="en-US" sz="2818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, desarrollado como una </a:t>
            </a:r>
            <a:r>
              <a:rPr lang="en-US" b="true" sz="2818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Aplicación Web Progresiva (PWA) responsive</a:t>
            </a:r>
            <a:r>
              <a:rPr lang="en-US" sz="2818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, que permitirá gestionar productos, stock, movimientos y ventas, además de integrar información proveniente de DimaSoft.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5280" y="4771206"/>
            <a:ext cx="4772332" cy="49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</a:pPr>
            <a:r>
              <a:rPr lang="en-US" b="true" sz="2818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Incorporará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48717" y="5533803"/>
            <a:ext cx="3225461" cy="29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618">
                <a:solidFill>
                  <a:srgbClr val="023370"/>
                </a:solidFill>
                <a:latin typeface="Bogart"/>
                <a:ea typeface="Bogart"/>
                <a:cs typeface="Bogart"/>
                <a:sym typeface="Bogart"/>
              </a:rPr>
              <a:t>Dashboard de inventario y ventas.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48717" y="6278581"/>
            <a:ext cx="3225461" cy="29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618">
                <a:solidFill>
                  <a:srgbClr val="023370"/>
                </a:solidFill>
                <a:latin typeface="Bogart"/>
                <a:ea typeface="Bogart"/>
                <a:cs typeface="Bogart"/>
                <a:sym typeface="Bogart"/>
              </a:rPr>
              <a:t>Escaneo de códigos de barras.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48717" y="7071470"/>
            <a:ext cx="3225461" cy="29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618">
                <a:solidFill>
                  <a:srgbClr val="023370"/>
                </a:solidFill>
                <a:latin typeface="Bogart"/>
                <a:ea typeface="Bogart"/>
                <a:cs typeface="Bogart"/>
                <a:sym typeface="Bogart"/>
              </a:rPr>
              <a:t>Alertas de stock y vencimientos.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48717" y="7762041"/>
            <a:ext cx="3225461" cy="29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618">
                <a:solidFill>
                  <a:srgbClr val="023370"/>
                </a:solidFill>
                <a:latin typeface="Bogart"/>
                <a:ea typeface="Bogart"/>
                <a:cs typeface="Bogart"/>
                <a:sym typeface="Bogart"/>
              </a:rPr>
              <a:t>Análisis de datos.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48717" y="8554834"/>
            <a:ext cx="3225461" cy="29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618">
                <a:solidFill>
                  <a:srgbClr val="023370"/>
                </a:solidFill>
                <a:latin typeface="Bogart"/>
                <a:ea typeface="Bogart"/>
                <a:cs typeface="Bogart"/>
                <a:sym typeface="Bogart"/>
              </a:rPr>
              <a:t>Predicción de demanda.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48717" y="9347628"/>
            <a:ext cx="3225461" cy="29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4"/>
              </a:lnSpc>
            </a:pPr>
            <a:r>
              <a:rPr lang="en-US" sz="1618">
                <a:solidFill>
                  <a:srgbClr val="023370"/>
                </a:solidFill>
                <a:latin typeface="Bogart"/>
                <a:ea typeface="Bogart"/>
                <a:cs typeface="Bogart"/>
                <a:sym typeface="Bogart"/>
              </a:rPr>
              <a:t>Recomendaciones de reposición.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01999" y="4771206"/>
            <a:ext cx="4772332" cy="49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</a:pPr>
            <a:r>
              <a:rPr lang="en-US" b="true" sz="2818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Relevancia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31915" y="5552853"/>
            <a:ext cx="4024169" cy="260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El propietario debe </a:t>
            </a:r>
            <a:r>
              <a:rPr lang="en-US" b="true" sz="2499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extraer 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información desde DimaSoft y analizar </a:t>
            </a:r>
            <a:r>
              <a:rPr lang="en-US" b="true" sz="2499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manualmente 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las ventas para determinar qué productos reponer.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43226" y="4645338"/>
            <a:ext cx="4884003" cy="5447251"/>
            <a:chOff x="0" y="0"/>
            <a:chExt cx="971005" cy="108298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1005" cy="1082986"/>
            </a:xfrm>
            <a:custGeom>
              <a:avLst/>
              <a:gdLst/>
              <a:ahLst/>
              <a:cxnLst/>
              <a:rect r="r" b="b" t="t" l="l"/>
              <a:pathLst>
                <a:path h="1082986" w="971005">
                  <a:moveTo>
                    <a:pt x="61821" y="0"/>
                  </a:moveTo>
                  <a:lnTo>
                    <a:pt x="909183" y="0"/>
                  </a:lnTo>
                  <a:cubicBezTo>
                    <a:pt x="925579" y="0"/>
                    <a:pt x="941304" y="6513"/>
                    <a:pt x="952898" y="18107"/>
                  </a:cubicBezTo>
                  <a:cubicBezTo>
                    <a:pt x="964491" y="29701"/>
                    <a:pt x="971005" y="45425"/>
                    <a:pt x="971005" y="61821"/>
                  </a:cubicBezTo>
                  <a:lnTo>
                    <a:pt x="971005" y="1021165"/>
                  </a:lnTo>
                  <a:cubicBezTo>
                    <a:pt x="971005" y="1055308"/>
                    <a:pt x="943326" y="1082986"/>
                    <a:pt x="909183" y="1082986"/>
                  </a:cubicBezTo>
                  <a:lnTo>
                    <a:pt x="61821" y="1082986"/>
                  </a:lnTo>
                  <a:cubicBezTo>
                    <a:pt x="27678" y="1082986"/>
                    <a:pt x="0" y="1055308"/>
                    <a:pt x="0" y="1021165"/>
                  </a:cubicBezTo>
                  <a:lnTo>
                    <a:pt x="0" y="61821"/>
                  </a:lnTo>
                  <a:cubicBezTo>
                    <a:pt x="0" y="27678"/>
                    <a:pt x="27678" y="0"/>
                    <a:pt x="61821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71005" cy="1140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243226" y="4872210"/>
            <a:ext cx="4772332" cy="49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</a:pPr>
            <a:r>
              <a:rPr lang="en-US" b="true" sz="2818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Busca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46297" y="5594725"/>
            <a:ext cx="4277861" cy="383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Centralizar información</a:t>
            </a:r>
          </a:p>
          <a:p>
            <a:pPr algn="l" marL="539745" indent="-269872" lvl="1">
              <a:lnSpc>
                <a:spcPts val="6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Reducir análisis manual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Mejorar control de inventario</a:t>
            </a:r>
          </a:p>
          <a:p>
            <a:pPr algn="l">
              <a:lnSpc>
                <a:spcPts val="3499"/>
              </a:lnSpc>
            </a:pP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Apoyar a la toma de decisiones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0895" y="740473"/>
            <a:ext cx="18298895" cy="71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1"/>
              </a:lnSpc>
              <a:spcBef>
                <a:spcPct val="0"/>
              </a:spcBef>
            </a:pPr>
            <a:r>
              <a:rPr lang="en-US" b="true" sz="5700" strike="noStrike" u="none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Relación del proyecto APT con perfil de egreso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712354"/>
            <a:ext cx="7824354" cy="917306"/>
            <a:chOff x="0" y="0"/>
            <a:chExt cx="10432472" cy="122307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432472" cy="1223075"/>
              <a:chOff x="0" y="0"/>
              <a:chExt cx="2165240" cy="25384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165240" cy="253847"/>
              </a:xfrm>
              <a:custGeom>
                <a:avLst/>
                <a:gdLst/>
                <a:ahLst/>
                <a:cxnLst/>
                <a:rect r="r" b="b" t="t" l="l"/>
                <a:pathLst>
                  <a:path h="253847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38780"/>
                    </a:lnTo>
                    <a:cubicBezTo>
                      <a:pt x="2165240" y="242776"/>
                      <a:pt x="2163652" y="246608"/>
                      <a:pt x="2160827" y="249434"/>
                    </a:cubicBezTo>
                    <a:cubicBezTo>
                      <a:pt x="2158001" y="252260"/>
                      <a:pt x="2154169" y="253847"/>
                      <a:pt x="2150173" y="253847"/>
                    </a:cubicBezTo>
                    <a:lnTo>
                      <a:pt x="15067" y="253847"/>
                    </a:lnTo>
                    <a:cubicBezTo>
                      <a:pt x="11071" y="253847"/>
                      <a:pt x="7239" y="252260"/>
                      <a:pt x="4413" y="249434"/>
                    </a:cubicBezTo>
                    <a:cubicBezTo>
                      <a:pt x="1587" y="246608"/>
                      <a:pt x="0" y="242776"/>
                      <a:pt x="0" y="238780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02337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165240" cy="310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65423" y="256988"/>
              <a:ext cx="9701625" cy="6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24"/>
                </a:lnSpc>
                <a:spcBef>
                  <a:spcPct val="0"/>
                </a:spcBef>
              </a:pPr>
              <a:r>
                <a:rPr lang="en-US" sz="2874">
                  <a:solidFill>
                    <a:srgbClr val="FFFFFF"/>
                  </a:solidFill>
                  <a:latin typeface="Batangas"/>
                  <a:ea typeface="Batangas"/>
                  <a:cs typeface="Batangas"/>
                  <a:sym typeface="Batangas"/>
                </a:rPr>
                <a:t>COMPETENCIA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60450" y="1700389"/>
            <a:ext cx="7598850" cy="917306"/>
            <a:chOff x="0" y="0"/>
            <a:chExt cx="10131800" cy="122307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31800" cy="1223075"/>
              <a:chOff x="0" y="0"/>
              <a:chExt cx="2102836" cy="25384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02836" cy="253847"/>
              </a:xfrm>
              <a:custGeom>
                <a:avLst/>
                <a:gdLst/>
                <a:ahLst/>
                <a:cxnLst/>
                <a:rect r="r" b="b" t="t" l="l"/>
                <a:pathLst>
                  <a:path h="25384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38333"/>
                    </a:lnTo>
                    <a:cubicBezTo>
                      <a:pt x="2102836" y="246901"/>
                      <a:pt x="2095890" y="253847"/>
                      <a:pt x="2087321" y="253847"/>
                    </a:cubicBezTo>
                    <a:lnTo>
                      <a:pt x="15514" y="253847"/>
                    </a:lnTo>
                    <a:cubicBezTo>
                      <a:pt x="6946" y="253847"/>
                      <a:pt x="0" y="246901"/>
                      <a:pt x="0" y="23833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02337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2102836" cy="310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54891" y="256988"/>
              <a:ext cx="9422017" cy="6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24"/>
                </a:lnSpc>
                <a:spcBef>
                  <a:spcPct val="0"/>
                </a:spcBef>
              </a:pPr>
              <a:r>
                <a:rPr lang="en-US" b="true" sz="2874" strike="noStrike" u="none">
                  <a:solidFill>
                    <a:srgbClr val="FFFFFF"/>
                  </a:solidFill>
                  <a:latin typeface="Batangas"/>
                  <a:ea typeface="Batangas"/>
                  <a:cs typeface="Batangas"/>
                  <a:sym typeface="Batangas"/>
                </a:rPr>
                <a:t>APLICACIÓN EN TRESSTOCK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2881955"/>
            <a:ext cx="7824354" cy="884286"/>
            <a:chOff x="0" y="0"/>
            <a:chExt cx="10432472" cy="117904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Desarroll</a:t>
              </a: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o de software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60450" y="2869990"/>
            <a:ext cx="7598850" cy="860791"/>
            <a:chOff x="0" y="0"/>
            <a:chExt cx="10131800" cy="11477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Desarrol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l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 de PWA, b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ac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ke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d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y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3853368"/>
            <a:ext cx="7824354" cy="884286"/>
            <a:chOff x="0" y="0"/>
            <a:chExt cx="10432472" cy="117904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Bases de datos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60450" y="3841403"/>
            <a:ext cx="7598850" cy="860791"/>
            <a:chOff x="0" y="0"/>
            <a:chExt cx="10131800" cy="114772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Diseño e im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pl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ement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ación en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Postg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reS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QL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4849950"/>
            <a:ext cx="7824354" cy="884286"/>
            <a:chOff x="0" y="0"/>
            <a:chExt cx="10432472" cy="117904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Ingeniería de requisitos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60450" y="4837984"/>
            <a:ext cx="7598850" cy="860791"/>
            <a:chOff x="0" y="0"/>
            <a:chExt cx="10131800" cy="114772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Lev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ntam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to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y a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álisis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de necesidad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8700" y="5846531"/>
            <a:ext cx="7824354" cy="884286"/>
            <a:chOff x="0" y="0"/>
            <a:chExt cx="10432472" cy="1179048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Gestión de proyectos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60450" y="5834566"/>
            <a:ext cx="7598850" cy="860791"/>
            <a:chOff x="0" y="0"/>
            <a:chExt cx="10131800" cy="1147722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l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anif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icación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y seguimi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to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del d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es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arr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llo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28700" y="6843113"/>
            <a:ext cx="7824354" cy="884286"/>
            <a:chOff x="0" y="0"/>
            <a:chExt cx="10432472" cy="1179048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Calidad y seguridad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60450" y="6831147"/>
            <a:ext cx="7598850" cy="860791"/>
            <a:chOff x="0" y="0"/>
            <a:chExt cx="10131800" cy="1147722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utent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icación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,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rol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s, permisos y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r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u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ba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28700" y="7830169"/>
            <a:ext cx="7824354" cy="884286"/>
            <a:chOff x="0" y="0"/>
            <a:chExt cx="10432472" cy="1179048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Plataformas móviles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60450" y="7818204"/>
            <a:ext cx="7598850" cy="860791"/>
            <a:chOff x="0" y="0"/>
            <a:chExt cx="10131800" cy="1147722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PW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res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ons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ve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y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u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so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de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c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ámara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28700" y="8826751"/>
            <a:ext cx="7824354" cy="884286"/>
            <a:chOff x="0" y="0"/>
            <a:chExt cx="10432472" cy="1179048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Análisis de datos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60450" y="8814785"/>
            <a:ext cx="7598850" cy="860791"/>
            <a:chOff x="0" y="0"/>
            <a:chExt cx="10131800" cy="1147722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2" id="8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Indicadores,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red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icci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s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y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re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c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menda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c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iones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304" y="4425996"/>
            <a:ext cx="5373815" cy="5198127"/>
            <a:chOff x="0" y="0"/>
            <a:chExt cx="971005" cy="9392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005" cy="939259"/>
            </a:xfrm>
            <a:custGeom>
              <a:avLst/>
              <a:gdLst/>
              <a:ahLst/>
              <a:cxnLst/>
              <a:rect r="r" b="b" t="t" l="l"/>
              <a:pathLst>
                <a:path h="939259" w="971005">
                  <a:moveTo>
                    <a:pt x="56186" y="0"/>
                  </a:moveTo>
                  <a:lnTo>
                    <a:pt x="914818" y="0"/>
                  </a:lnTo>
                  <a:cubicBezTo>
                    <a:pt x="929720" y="0"/>
                    <a:pt x="944011" y="5920"/>
                    <a:pt x="954548" y="16457"/>
                  </a:cubicBezTo>
                  <a:cubicBezTo>
                    <a:pt x="965085" y="26994"/>
                    <a:pt x="971005" y="41285"/>
                    <a:pt x="971005" y="56186"/>
                  </a:cubicBezTo>
                  <a:lnTo>
                    <a:pt x="971005" y="883073"/>
                  </a:lnTo>
                  <a:cubicBezTo>
                    <a:pt x="971005" y="897974"/>
                    <a:pt x="965085" y="912266"/>
                    <a:pt x="954548" y="922803"/>
                  </a:cubicBezTo>
                  <a:cubicBezTo>
                    <a:pt x="944011" y="933340"/>
                    <a:pt x="929720" y="939259"/>
                    <a:pt x="914818" y="939259"/>
                  </a:cubicBezTo>
                  <a:lnTo>
                    <a:pt x="56186" y="939259"/>
                  </a:lnTo>
                  <a:cubicBezTo>
                    <a:pt x="41285" y="939259"/>
                    <a:pt x="26994" y="933340"/>
                    <a:pt x="16457" y="922803"/>
                  </a:cubicBezTo>
                  <a:cubicBezTo>
                    <a:pt x="5920" y="912266"/>
                    <a:pt x="0" y="897974"/>
                    <a:pt x="0" y="883073"/>
                  </a:cubicBezTo>
                  <a:lnTo>
                    <a:pt x="0" y="56186"/>
                  </a:lnTo>
                  <a:cubicBezTo>
                    <a:pt x="0" y="41285"/>
                    <a:pt x="5920" y="26994"/>
                    <a:pt x="16457" y="16457"/>
                  </a:cubicBezTo>
                  <a:cubicBezTo>
                    <a:pt x="26994" y="5920"/>
                    <a:pt x="41285" y="0"/>
                    <a:pt x="56186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71005" cy="996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96296" y="4425996"/>
            <a:ext cx="5373815" cy="5198127"/>
            <a:chOff x="0" y="0"/>
            <a:chExt cx="971005" cy="9392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1005" cy="939259"/>
            </a:xfrm>
            <a:custGeom>
              <a:avLst/>
              <a:gdLst/>
              <a:ahLst/>
              <a:cxnLst/>
              <a:rect r="r" b="b" t="t" l="l"/>
              <a:pathLst>
                <a:path h="939259" w="971005">
                  <a:moveTo>
                    <a:pt x="56186" y="0"/>
                  </a:moveTo>
                  <a:lnTo>
                    <a:pt x="914818" y="0"/>
                  </a:lnTo>
                  <a:cubicBezTo>
                    <a:pt x="929720" y="0"/>
                    <a:pt x="944011" y="5920"/>
                    <a:pt x="954548" y="16457"/>
                  </a:cubicBezTo>
                  <a:cubicBezTo>
                    <a:pt x="965085" y="26994"/>
                    <a:pt x="971005" y="41285"/>
                    <a:pt x="971005" y="56186"/>
                  </a:cubicBezTo>
                  <a:lnTo>
                    <a:pt x="971005" y="883073"/>
                  </a:lnTo>
                  <a:cubicBezTo>
                    <a:pt x="971005" y="897974"/>
                    <a:pt x="965085" y="912266"/>
                    <a:pt x="954548" y="922803"/>
                  </a:cubicBezTo>
                  <a:cubicBezTo>
                    <a:pt x="944011" y="933340"/>
                    <a:pt x="929720" y="939259"/>
                    <a:pt x="914818" y="939259"/>
                  </a:cubicBezTo>
                  <a:lnTo>
                    <a:pt x="56186" y="939259"/>
                  </a:lnTo>
                  <a:cubicBezTo>
                    <a:pt x="41285" y="939259"/>
                    <a:pt x="26994" y="933340"/>
                    <a:pt x="16457" y="922803"/>
                  </a:cubicBezTo>
                  <a:cubicBezTo>
                    <a:pt x="5920" y="912266"/>
                    <a:pt x="0" y="897974"/>
                    <a:pt x="0" y="883073"/>
                  </a:cubicBezTo>
                  <a:lnTo>
                    <a:pt x="0" y="56186"/>
                  </a:lnTo>
                  <a:cubicBezTo>
                    <a:pt x="0" y="41285"/>
                    <a:pt x="5920" y="26994"/>
                    <a:pt x="16457" y="16457"/>
                  </a:cubicBezTo>
                  <a:cubicBezTo>
                    <a:pt x="26994" y="5920"/>
                    <a:pt x="41285" y="0"/>
                    <a:pt x="56186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71005" cy="996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93249" y="4425996"/>
            <a:ext cx="5373815" cy="5198127"/>
            <a:chOff x="0" y="0"/>
            <a:chExt cx="971005" cy="9392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1005" cy="939259"/>
            </a:xfrm>
            <a:custGeom>
              <a:avLst/>
              <a:gdLst/>
              <a:ahLst/>
              <a:cxnLst/>
              <a:rect r="r" b="b" t="t" l="l"/>
              <a:pathLst>
                <a:path h="939259" w="971005">
                  <a:moveTo>
                    <a:pt x="56186" y="0"/>
                  </a:moveTo>
                  <a:lnTo>
                    <a:pt x="914818" y="0"/>
                  </a:lnTo>
                  <a:cubicBezTo>
                    <a:pt x="929720" y="0"/>
                    <a:pt x="944011" y="5920"/>
                    <a:pt x="954548" y="16457"/>
                  </a:cubicBezTo>
                  <a:cubicBezTo>
                    <a:pt x="965085" y="26994"/>
                    <a:pt x="971005" y="41285"/>
                    <a:pt x="971005" y="56186"/>
                  </a:cubicBezTo>
                  <a:lnTo>
                    <a:pt x="971005" y="883073"/>
                  </a:lnTo>
                  <a:cubicBezTo>
                    <a:pt x="971005" y="897974"/>
                    <a:pt x="965085" y="912266"/>
                    <a:pt x="954548" y="922803"/>
                  </a:cubicBezTo>
                  <a:cubicBezTo>
                    <a:pt x="944011" y="933340"/>
                    <a:pt x="929720" y="939259"/>
                    <a:pt x="914818" y="939259"/>
                  </a:cubicBezTo>
                  <a:lnTo>
                    <a:pt x="56186" y="939259"/>
                  </a:lnTo>
                  <a:cubicBezTo>
                    <a:pt x="41285" y="939259"/>
                    <a:pt x="26994" y="933340"/>
                    <a:pt x="16457" y="922803"/>
                  </a:cubicBezTo>
                  <a:cubicBezTo>
                    <a:pt x="5920" y="912266"/>
                    <a:pt x="0" y="897974"/>
                    <a:pt x="0" y="883073"/>
                  </a:cubicBezTo>
                  <a:lnTo>
                    <a:pt x="0" y="56186"/>
                  </a:lnTo>
                  <a:cubicBezTo>
                    <a:pt x="0" y="41285"/>
                    <a:pt x="5920" y="26994"/>
                    <a:pt x="16457" y="16457"/>
                  </a:cubicBezTo>
                  <a:cubicBezTo>
                    <a:pt x="26994" y="5920"/>
                    <a:pt x="41285" y="0"/>
                    <a:pt x="56186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71005" cy="996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941164" y="2346240"/>
            <a:ext cx="1840888" cy="2091919"/>
          </a:xfrm>
          <a:custGeom>
            <a:avLst/>
            <a:gdLst/>
            <a:ahLst/>
            <a:cxnLst/>
            <a:rect r="r" b="b" t="t" l="l"/>
            <a:pathLst>
              <a:path h="2091919" w="1840888">
                <a:moveTo>
                  <a:pt x="0" y="0"/>
                </a:moveTo>
                <a:lnTo>
                  <a:pt x="1840889" y="0"/>
                </a:lnTo>
                <a:lnTo>
                  <a:pt x="1840889" y="2091918"/>
                </a:lnTo>
                <a:lnTo>
                  <a:pt x="0" y="2091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71239" y="2409267"/>
            <a:ext cx="2028891" cy="2028891"/>
          </a:xfrm>
          <a:custGeom>
            <a:avLst/>
            <a:gdLst/>
            <a:ahLst/>
            <a:cxnLst/>
            <a:rect r="r" b="b" t="t" l="l"/>
            <a:pathLst>
              <a:path h="2028891" w="2028891">
                <a:moveTo>
                  <a:pt x="0" y="0"/>
                </a:moveTo>
                <a:lnTo>
                  <a:pt x="2028890" y="0"/>
                </a:lnTo>
                <a:lnTo>
                  <a:pt x="2028890" y="2028891"/>
                </a:lnTo>
                <a:lnTo>
                  <a:pt x="0" y="2028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34706" y="2354254"/>
            <a:ext cx="2206545" cy="2096217"/>
          </a:xfrm>
          <a:custGeom>
            <a:avLst/>
            <a:gdLst/>
            <a:ahLst/>
            <a:cxnLst/>
            <a:rect r="r" b="b" t="t" l="l"/>
            <a:pathLst>
              <a:path h="2096217" w="2206545">
                <a:moveTo>
                  <a:pt x="0" y="0"/>
                </a:moveTo>
                <a:lnTo>
                  <a:pt x="2206544" y="0"/>
                </a:lnTo>
                <a:lnTo>
                  <a:pt x="2206544" y="2096217"/>
                </a:lnTo>
                <a:lnTo>
                  <a:pt x="0" y="2096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4304" y="914299"/>
            <a:ext cx="17677129" cy="115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"/>
              </a:lnSpc>
            </a:pPr>
            <a:r>
              <a:rPr lang="en-US" sz="4700" b="true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R</a:t>
            </a:r>
            <a:r>
              <a:rPr lang="en-US" b="true" sz="47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elación del proyecto APT con tus intereses profesionales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1451" y="4717171"/>
            <a:ext cx="5250945" cy="52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1"/>
              </a:lnSpc>
            </a:pPr>
            <a:r>
              <a:rPr lang="en-US" b="true" sz="3100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Desarroll</a:t>
            </a:r>
            <a:r>
              <a:rPr lang="en-US" b="true" sz="3100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o de software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96296" y="4717171"/>
            <a:ext cx="5250945" cy="52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1"/>
              </a:lnSpc>
            </a:pPr>
            <a:r>
              <a:rPr lang="en-US" b="true" sz="3100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Ciberseguridad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84486" y="4717171"/>
            <a:ext cx="5250945" cy="52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1"/>
              </a:lnSpc>
            </a:pPr>
            <a:r>
              <a:rPr lang="en-US" b="true" sz="3100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Análisis de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6335" y="5520535"/>
            <a:ext cx="4706884" cy="337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Diseño y desarrollo de soluciones informáticas.</a:t>
            </a:r>
          </a:p>
          <a:p>
            <a:pPr algn="l">
              <a:lnSpc>
                <a:spcPts val="3850"/>
              </a:lnSpc>
            </a:pPr>
          </a:p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Desarrollo web, backend y API.</a:t>
            </a:r>
          </a:p>
          <a:p>
            <a:pPr algn="l">
              <a:lnSpc>
                <a:spcPts val="3850"/>
              </a:lnSpc>
            </a:pPr>
          </a:p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Integración de sistemas.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32242" y="5969702"/>
            <a:ext cx="4706884" cy="240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Autenticación.</a:t>
            </a:r>
          </a:p>
          <a:p>
            <a:pPr algn="l">
              <a:lnSpc>
                <a:spcPts val="3850"/>
              </a:lnSpc>
            </a:pPr>
          </a:p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Roles y permisos.</a:t>
            </a:r>
          </a:p>
          <a:p>
            <a:pPr algn="l">
              <a:lnSpc>
                <a:spcPts val="3850"/>
              </a:lnSpc>
            </a:pPr>
          </a:p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Control de acceso.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84536" y="5520535"/>
            <a:ext cx="4706884" cy="337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Procesamiento de información histórica.</a:t>
            </a:r>
          </a:p>
          <a:p>
            <a:pPr algn="l">
              <a:lnSpc>
                <a:spcPts val="3850"/>
              </a:lnSpc>
            </a:pPr>
          </a:p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Machine Learning.</a:t>
            </a:r>
          </a:p>
          <a:p>
            <a:pPr algn="l">
              <a:lnSpc>
                <a:spcPts val="3850"/>
              </a:lnSpc>
            </a:pPr>
          </a:p>
          <a:p>
            <a:pPr algn="l" marL="593875" indent="-296937" lvl="1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Predicción y recomendaciones.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4947" y="3596393"/>
            <a:ext cx="4095955" cy="5198127"/>
            <a:chOff x="0" y="0"/>
            <a:chExt cx="740106" cy="9392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0106" cy="939259"/>
            </a:xfrm>
            <a:custGeom>
              <a:avLst/>
              <a:gdLst/>
              <a:ahLst/>
              <a:cxnLst/>
              <a:rect r="r" b="b" t="t" l="l"/>
              <a:pathLst>
                <a:path h="939259" w="740106">
                  <a:moveTo>
                    <a:pt x="73715" y="0"/>
                  </a:moveTo>
                  <a:lnTo>
                    <a:pt x="666390" y="0"/>
                  </a:lnTo>
                  <a:cubicBezTo>
                    <a:pt x="707102" y="0"/>
                    <a:pt x="740106" y="33004"/>
                    <a:pt x="740106" y="73715"/>
                  </a:cubicBezTo>
                  <a:lnTo>
                    <a:pt x="740106" y="865544"/>
                  </a:lnTo>
                  <a:cubicBezTo>
                    <a:pt x="740106" y="885094"/>
                    <a:pt x="732339" y="903844"/>
                    <a:pt x="718515" y="917669"/>
                  </a:cubicBezTo>
                  <a:cubicBezTo>
                    <a:pt x="704691" y="931493"/>
                    <a:pt x="685941" y="939259"/>
                    <a:pt x="666390" y="939259"/>
                  </a:cubicBezTo>
                  <a:lnTo>
                    <a:pt x="73715" y="939259"/>
                  </a:lnTo>
                  <a:cubicBezTo>
                    <a:pt x="54165" y="939259"/>
                    <a:pt x="35415" y="931493"/>
                    <a:pt x="21591" y="917669"/>
                  </a:cubicBezTo>
                  <a:cubicBezTo>
                    <a:pt x="7766" y="903844"/>
                    <a:pt x="0" y="885094"/>
                    <a:pt x="0" y="865544"/>
                  </a:cubicBezTo>
                  <a:lnTo>
                    <a:pt x="0" y="73715"/>
                  </a:lnTo>
                  <a:cubicBezTo>
                    <a:pt x="0" y="54165"/>
                    <a:pt x="7766" y="35415"/>
                    <a:pt x="21591" y="21591"/>
                  </a:cubicBezTo>
                  <a:cubicBezTo>
                    <a:pt x="35415" y="7766"/>
                    <a:pt x="54165" y="0"/>
                    <a:pt x="73715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40106" cy="996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16323" y="3596393"/>
            <a:ext cx="4095955" cy="5198127"/>
            <a:chOff x="0" y="0"/>
            <a:chExt cx="740106" cy="9392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0106" cy="939259"/>
            </a:xfrm>
            <a:custGeom>
              <a:avLst/>
              <a:gdLst/>
              <a:ahLst/>
              <a:cxnLst/>
              <a:rect r="r" b="b" t="t" l="l"/>
              <a:pathLst>
                <a:path h="939259" w="740106">
                  <a:moveTo>
                    <a:pt x="73715" y="0"/>
                  </a:moveTo>
                  <a:lnTo>
                    <a:pt x="666390" y="0"/>
                  </a:lnTo>
                  <a:cubicBezTo>
                    <a:pt x="707102" y="0"/>
                    <a:pt x="740106" y="33004"/>
                    <a:pt x="740106" y="73715"/>
                  </a:cubicBezTo>
                  <a:lnTo>
                    <a:pt x="740106" y="865544"/>
                  </a:lnTo>
                  <a:cubicBezTo>
                    <a:pt x="740106" y="885094"/>
                    <a:pt x="732339" y="903844"/>
                    <a:pt x="718515" y="917669"/>
                  </a:cubicBezTo>
                  <a:cubicBezTo>
                    <a:pt x="704691" y="931493"/>
                    <a:pt x="685941" y="939259"/>
                    <a:pt x="666390" y="939259"/>
                  </a:cubicBezTo>
                  <a:lnTo>
                    <a:pt x="73715" y="939259"/>
                  </a:lnTo>
                  <a:cubicBezTo>
                    <a:pt x="54165" y="939259"/>
                    <a:pt x="35415" y="931493"/>
                    <a:pt x="21591" y="917669"/>
                  </a:cubicBezTo>
                  <a:cubicBezTo>
                    <a:pt x="7766" y="903844"/>
                    <a:pt x="0" y="885094"/>
                    <a:pt x="0" y="865544"/>
                  </a:cubicBezTo>
                  <a:lnTo>
                    <a:pt x="0" y="73715"/>
                  </a:lnTo>
                  <a:cubicBezTo>
                    <a:pt x="0" y="54165"/>
                    <a:pt x="7766" y="35415"/>
                    <a:pt x="21591" y="21591"/>
                  </a:cubicBezTo>
                  <a:cubicBezTo>
                    <a:pt x="35415" y="7766"/>
                    <a:pt x="54165" y="0"/>
                    <a:pt x="73715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40106" cy="996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71767" y="3582872"/>
            <a:ext cx="4095955" cy="5198127"/>
            <a:chOff x="0" y="0"/>
            <a:chExt cx="740106" cy="9392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0106" cy="939259"/>
            </a:xfrm>
            <a:custGeom>
              <a:avLst/>
              <a:gdLst/>
              <a:ahLst/>
              <a:cxnLst/>
              <a:rect r="r" b="b" t="t" l="l"/>
              <a:pathLst>
                <a:path h="939259" w="740106">
                  <a:moveTo>
                    <a:pt x="73715" y="0"/>
                  </a:moveTo>
                  <a:lnTo>
                    <a:pt x="666390" y="0"/>
                  </a:lnTo>
                  <a:cubicBezTo>
                    <a:pt x="707102" y="0"/>
                    <a:pt x="740106" y="33004"/>
                    <a:pt x="740106" y="73715"/>
                  </a:cubicBezTo>
                  <a:lnTo>
                    <a:pt x="740106" y="865544"/>
                  </a:lnTo>
                  <a:cubicBezTo>
                    <a:pt x="740106" y="885094"/>
                    <a:pt x="732339" y="903844"/>
                    <a:pt x="718515" y="917669"/>
                  </a:cubicBezTo>
                  <a:cubicBezTo>
                    <a:pt x="704691" y="931493"/>
                    <a:pt x="685941" y="939259"/>
                    <a:pt x="666390" y="939259"/>
                  </a:cubicBezTo>
                  <a:lnTo>
                    <a:pt x="73715" y="939259"/>
                  </a:lnTo>
                  <a:cubicBezTo>
                    <a:pt x="54165" y="939259"/>
                    <a:pt x="35415" y="931493"/>
                    <a:pt x="21591" y="917669"/>
                  </a:cubicBezTo>
                  <a:cubicBezTo>
                    <a:pt x="7766" y="903844"/>
                    <a:pt x="0" y="885094"/>
                    <a:pt x="0" y="865544"/>
                  </a:cubicBezTo>
                  <a:lnTo>
                    <a:pt x="0" y="73715"/>
                  </a:lnTo>
                  <a:cubicBezTo>
                    <a:pt x="0" y="54165"/>
                    <a:pt x="7766" y="35415"/>
                    <a:pt x="21591" y="21591"/>
                  </a:cubicBezTo>
                  <a:cubicBezTo>
                    <a:pt x="35415" y="7766"/>
                    <a:pt x="54165" y="0"/>
                    <a:pt x="73715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40106" cy="996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7098" y="3582872"/>
            <a:ext cx="4095955" cy="5198127"/>
            <a:chOff x="0" y="0"/>
            <a:chExt cx="740106" cy="9392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106" cy="939259"/>
            </a:xfrm>
            <a:custGeom>
              <a:avLst/>
              <a:gdLst/>
              <a:ahLst/>
              <a:cxnLst/>
              <a:rect r="r" b="b" t="t" l="l"/>
              <a:pathLst>
                <a:path h="939259" w="740106">
                  <a:moveTo>
                    <a:pt x="73715" y="0"/>
                  </a:moveTo>
                  <a:lnTo>
                    <a:pt x="666390" y="0"/>
                  </a:lnTo>
                  <a:cubicBezTo>
                    <a:pt x="707102" y="0"/>
                    <a:pt x="740106" y="33004"/>
                    <a:pt x="740106" y="73715"/>
                  </a:cubicBezTo>
                  <a:lnTo>
                    <a:pt x="740106" y="865544"/>
                  </a:lnTo>
                  <a:cubicBezTo>
                    <a:pt x="740106" y="885094"/>
                    <a:pt x="732339" y="903844"/>
                    <a:pt x="718515" y="917669"/>
                  </a:cubicBezTo>
                  <a:cubicBezTo>
                    <a:pt x="704691" y="931493"/>
                    <a:pt x="685941" y="939259"/>
                    <a:pt x="666390" y="939259"/>
                  </a:cubicBezTo>
                  <a:lnTo>
                    <a:pt x="73715" y="939259"/>
                  </a:lnTo>
                  <a:cubicBezTo>
                    <a:pt x="54165" y="939259"/>
                    <a:pt x="35415" y="931493"/>
                    <a:pt x="21591" y="917669"/>
                  </a:cubicBezTo>
                  <a:cubicBezTo>
                    <a:pt x="7766" y="903844"/>
                    <a:pt x="0" y="885094"/>
                    <a:pt x="0" y="865544"/>
                  </a:cubicBezTo>
                  <a:lnTo>
                    <a:pt x="0" y="73715"/>
                  </a:lnTo>
                  <a:cubicBezTo>
                    <a:pt x="0" y="54165"/>
                    <a:pt x="7766" y="35415"/>
                    <a:pt x="21591" y="21591"/>
                  </a:cubicBezTo>
                  <a:cubicBezTo>
                    <a:pt x="35415" y="7766"/>
                    <a:pt x="54165" y="0"/>
                    <a:pt x="73715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40106" cy="996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13946" y="2087383"/>
            <a:ext cx="1817956" cy="1817956"/>
          </a:xfrm>
          <a:custGeom>
            <a:avLst/>
            <a:gdLst/>
            <a:ahLst/>
            <a:cxnLst/>
            <a:rect r="r" b="b" t="t" l="l"/>
            <a:pathLst>
              <a:path h="1817956" w="1817956">
                <a:moveTo>
                  <a:pt x="0" y="0"/>
                </a:moveTo>
                <a:lnTo>
                  <a:pt x="1817956" y="0"/>
                </a:lnTo>
                <a:lnTo>
                  <a:pt x="1817956" y="1817956"/>
                </a:lnTo>
                <a:lnTo>
                  <a:pt x="0" y="1817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74293" y="2087383"/>
            <a:ext cx="1859710" cy="1710934"/>
          </a:xfrm>
          <a:custGeom>
            <a:avLst/>
            <a:gdLst/>
            <a:ahLst/>
            <a:cxnLst/>
            <a:rect r="r" b="b" t="t" l="l"/>
            <a:pathLst>
              <a:path h="1710934" w="1859710">
                <a:moveTo>
                  <a:pt x="0" y="0"/>
                </a:moveTo>
                <a:lnTo>
                  <a:pt x="1859710" y="0"/>
                </a:lnTo>
                <a:lnTo>
                  <a:pt x="1859710" y="1710934"/>
                </a:lnTo>
                <a:lnTo>
                  <a:pt x="0" y="17109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67833" y="2236398"/>
            <a:ext cx="1703823" cy="1561919"/>
          </a:xfrm>
          <a:custGeom>
            <a:avLst/>
            <a:gdLst/>
            <a:ahLst/>
            <a:cxnLst/>
            <a:rect r="r" b="b" t="t" l="l"/>
            <a:pathLst>
              <a:path h="1561919" w="1703823">
                <a:moveTo>
                  <a:pt x="0" y="0"/>
                </a:moveTo>
                <a:lnTo>
                  <a:pt x="1703823" y="0"/>
                </a:lnTo>
                <a:lnTo>
                  <a:pt x="1703823" y="1561919"/>
                </a:lnTo>
                <a:lnTo>
                  <a:pt x="0" y="156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129178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38747" y="2179130"/>
            <a:ext cx="1745647" cy="1527441"/>
          </a:xfrm>
          <a:custGeom>
            <a:avLst/>
            <a:gdLst/>
            <a:ahLst/>
            <a:cxnLst/>
            <a:rect r="r" b="b" t="t" l="l"/>
            <a:pathLst>
              <a:path h="1527441" w="1745647">
                <a:moveTo>
                  <a:pt x="0" y="0"/>
                </a:moveTo>
                <a:lnTo>
                  <a:pt x="1745647" y="0"/>
                </a:lnTo>
                <a:lnTo>
                  <a:pt x="1745647" y="1527441"/>
                </a:lnTo>
                <a:lnTo>
                  <a:pt x="0" y="15274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40193" y="740473"/>
            <a:ext cx="13346301" cy="71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1"/>
              </a:lnSpc>
              <a:spcBef>
                <a:spcPct val="0"/>
              </a:spcBef>
            </a:pPr>
            <a:r>
              <a:rPr lang="en-US" b="true" sz="5700" strike="noStrike" u="none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Factibilidad del proyecto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4947" y="4123787"/>
            <a:ext cx="4002302" cy="52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1"/>
              </a:lnSpc>
            </a:pPr>
            <a:r>
              <a:rPr lang="en-US" b="true" sz="3100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Tiempo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16323" y="3878043"/>
            <a:ext cx="4002302" cy="105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</a:pPr>
            <a:r>
              <a:rPr lang="en-US" b="true" sz="3000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Recursos disponibles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89702" y="3848189"/>
            <a:ext cx="3860085" cy="106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1"/>
              </a:lnSpc>
            </a:pPr>
            <a:r>
              <a:rPr lang="en-US" b="true" sz="3100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Factores favorables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10420" y="3864523"/>
            <a:ext cx="4002302" cy="105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</a:pPr>
            <a:r>
              <a:rPr lang="en-US" b="true" sz="3000">
                <a:solidFill>
                  <a:srgbClr val="023370"/>
                </a:solidFill>
                <a:latin typeface="Bogart Bold"/>
                <a:ea typeface="Bogart Bold"/>
                <a:cs typeface="Bogart Bold"/>
                <a:sym typeface="Bogart Bold"/>
              </a:rPr>
              <a:t>Riesgos considerados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6867" y="5188694"/>
            <a:ext cx="3332114" cy="319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El proyecto se desarrollará durante el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semestre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, distribuyendo el trabajo entre las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etapas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de análisis, diseño, desarrollo, pruebas y presentación final.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51418" y="5188694"/>
            <a:ext cx="3332114" cy="319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Se cuenta con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computadores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,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acceso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 Inte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r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n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t,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dispositivos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móviles,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herramientas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desarrollo y tecnologías como PostgreSQL, Node.js, Express y Python.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93303" y="5188694"/>
            <a:ext cx="3332114" cy="319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Se dispone de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información real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de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l minim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rk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y de la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colaboración del propietario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,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lo que p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ermit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irá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conoc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er lo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s procesos y validar la solución propuesta.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53522" y="4988669"/>
            <a:ext cx="3332114" cy="359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Pueden existir dificultades relac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io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nad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s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c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o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n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l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calidad de los datos, la integración con DimaSoft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y 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el </a:t>
            </a:r>
            <a:r>
              <a:rPr lang="en-US" b="true" sz="2250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desarrollo del modelo predictivo,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p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o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r lo</a:t>
            </a:r>
            <a:r>
              <a:rPr lang="en-US" sz="22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que se trabajará de forma incremental.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0850" y="1376751"/>
            <a:ext cx="13346301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9"/>
              </a:lnSpc>
              <a:spcBef>
                <a:spcPct val="0"/>
              </a:spcBef>
            </a:pPr>
            <a:r>
              <a:rPr lang="en-US" b="true" sz="6999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Objetivo General</a:t>
            </a:r>
          </a:p>
        </p:txBody>
      </p:sp>
      <p:sp>
        <p:nvSpPr>
          <p:cNvPr name="AutoShape 3" id="3"/>
          <p:cNvSpPr/>
          <p:nvPr/>
        </p:nvSpPr>
        <p:spPr>
          <a:xfrm flipH="true">
            <a:off x="-868282" y="5363131"/>
            <a:ext cx="20024565" cy="0"/>
          </a:xfrm>
          <a:prstGeom prst="line">
            <a:avLst/>
          </a:prstGeom>
          <a:ln cap="flat" w="38100">
            <a:solidFill>
              <a:srgbClr val="0253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57161" y="3113829"/>
            <a:ext cx="15773678" cy="4536704"/>
            <a:chOff x="0" y="0"/>
            <a:chExt cx="3047689" cy="8765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7689" cy="876553"/>
            </a:xfrm>
            <a:custGeom>
              <a:avLst/>
              <a:gdLst/>
              <a:ahLst/>
              <a:cxnLst/>
              <a:rect r="r" b="b" t="t" l="l"/>
              <a:pathLst>
                <a:path h="876553" w="3047689">
                  <a:moveTo>
                    <a:pt x="19142" y="0"/>
                  </a:moveTo>
                  <a:lnTo>
                    <a:pt x="3028548" y="0"/>
                  </a:lnTo>
                  <a:cubicBezTo>
                    <a:pt x="3039119" y="0"/>
                    <a:pt x="3047689" y="8570"/>
                    <a:pt x="3047689" y="19142"/>
                  </a:cubicBezTo>
                  <a:lnTo>
                    <a:pt x="3047689" y="857411"/>
                  </a:lnTo>
                  <a:cubicBezTo>
                    <a:pt x="3047689" y="862488"/>
                    <a:pt x="3045672" y="867357"/>
                    <a:pt x="3042083" y="870946"/>
                  </a:cubicBezTo>
                  <a:cubicBezTo>
                    <a:pt x="3038493" y="874536"/>
                    <a:pt x="3033624" y="876553"/>
                    <a:pt x="3028548" y="876553"/>
                  </a:cubicBezTo>
                  <a:lnTo>
                    <a:pt x="19142" y="876553"/>
                  </a:lnTo>
                  <a:cubicBezTo>
                    <a:pt x="8570" y="876553"/>
                    <a:pt x="0" y="867983"/>
                    <a:pt x="0" y="857411"/>
                  </a:cubicBezTo>
                  <a:lnTo>
                    <a:pt x="0" y="19142"/>
                  </a:lnTo>
                  <a:cubicBezTo>
                    <a:pt x="0" y="8570"/>
                    <a:pt x="8570" y="0"/>
                    <a:pt x="19142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047689" cy="93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8720" y="3157640"/>
            <a:ext cx="14890560" cy="432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25"/>
              </a:lnSpc>
            </a:pP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Desarrollar un sistema de gestión y con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trol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de i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nventario mediante u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na Aplic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ación Web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Progresiva (PWA) responsive,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que per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mita i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nt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egrar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y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analizar inf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ormación de prod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uctos, ventas e inventario, incorporando herramientas de analítica, predicción y recomendaciones para apoyar la toma de decisiones del minimarke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</a:t>
            </a:r>
            <a:r>
              <a:rPr lang="en-US" sz="408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868282" y="2395023"/>
            <a:ext cx="20024565" cy="0"/>
          </a:xfrm>
          <a:prstGeom prst="line">
            <a:avLst/>
          </a:prstGeom>
          <a:ln cap="flat" w="38100">
            <a:solidFill>
              <a:srgbClr val="0253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385138" y="1689547"/>
            <a:ext cx="14654556" cy="1283052"/>
            <a:chOff x="0" y="0"/>
            <a:chExt cx="3859636" cy="3379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59636" cy="337923"/>
            </a:xfrm>
            <a:custGeom>
              <a:avLst/>
              <a:gdLst/>
              <a:ahLst/>
              <a:cxnLst/>
              <a:rect r="r" b="b" t="t" l="l"/>
              <a:pathLst>
                <a:path h="337923" w="3859636">
                  <a:moveTo>
                    <a:pt x="20603" y="0"/>
                  </a:moveTo>
                  <a:lnTo>
                    <a:pt x="3839033" y="0"/>
                  </a:lnTo>
                  <a:cubicBezTo>
                    <a:pt x="3844497" y="0"/>
                    <a:pt x="3849737" y="2171"/>
                    <a:pt x="3853602" y="6035"/>
                  </a:cubicBezTo>
                  <a:cubicBezTo>
                    <a:pt x="3857465" y="9899"/>
                    <a:pt x="3859636" y="15139"/>
                    <a:pt x="3859636" y="20603"/>
                  </a:cubicBezTo>
                  <a:lnTo>
                    <a:pt x="3859636" y="317320"/>
                  </a:lnTo>
                  <a:cubicBezTo>
                    <a:pt x="3859636" y="322784"/>
                    <a:pt x="3857465" y="328025"/>
                    <a:pt x="3853602" y="331888"/>
                  </a:cubicBezTo>
                  <a:cubicBezTo>
                    <a:pt x="3849737" y="335752"/>
                    <a:pt x="3844497" y="337923"/>
                    <a:pt x="3839033" y="337923"/>
                  </a:cubicBezTo>
                  <a:lnTo>
                    <a:pt x="20603" y="337923"/>
                  </a:lnTo>
                  <a:cubicBezTo>
                    <a:pt x="15139" y="337923"/>
                    <a:pt x="9899" y="335752"/>
                    <a:pt x="6035" y="331888"/>
                  </a:cubicBezTo>
                  <a:cubicBezTo>
                    <a:pt x="2171" y="328025"/>
                    <a:pt x="0" y="322784"/>
                    <a:pt x="0" y="317320"/>
                  </a:cubicBezTo>
                  <a:lnTo>
                    <a:pt x="0" y="20603"/>
                  </a:lnTo>
                  <a:cubicBezTo>
                    <a:pt x="0" y="15139"/>
                    <a:pt x="2171" y="9899"/>
                    <a:pt x="6035" y="6035"/>
                  </a:cubicBezTo>
                  <a:cubicBezTo>
                    <a:pt x="9899" y="2171"/>
                    <a:pt x="15139" y="0"/>
                    <a:pt x="20603" y="0"/>
                  </a:cubicBezTo>
                  <a:close/>
                </a:path>
              </a:pathLst>
            </a:custGeom>
            <a:solidFill>
              <a:srgbClr val="CAE1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59636" cy="376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>
            <a:off x="-868282" y="3919937"/>
            <a:ext cx="20024565" cy="0"/>
          </a:xfrm>
          <a:prstGeom prst="line">
            <a:avLst/>
          </a:prstGeom>
          <a:ln cap="flat" w="38100">
            <a:solidFill>
              <a:srgbClr val="0253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385138" y="3206947"/>
            <a:ext cx="14654556" cy="1717452"/>
            <a:chOff x="0" y="0"/>
            <a:chExt cx="3859636" cy="452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59636" cy="452333"/>
            </a:xfrm>
            <a:custGeom>
              <a:avLst/>
              <a:gdLst/>
              <a:ahLst/>
              <a:cxnLst/>
              <a:rect r="r" b="b" t="t" l="l"/>
              <a:pathLst>
                <a:path h="452333" w="3859636">
                  <a:moveTo>
                    <a:pt x="20603" y="0"/>
                  </a:moveTo>
                  <a:lnTo>
                    <a:pt x="3839033" y="0"/>
                  </a:lnTo>
                  <a:cubicBezTo>
                    <a:pt x="3844497" y="0"/>
                    <a:pt x="3849737" y="2171"/>
                    <a:pt x="3853602" y="6035"/>
                  </a:cubicBezTo>
                  <a:cubicBezTo>
                    <a:pt x="3857465" y="9899"/>
                    <a:pt x="3859636" y="15139"/>
                    <a:pt x="3859636" y="20603"/>
                  </a:cubicBezTo>
                  <a:lnTo>
                    <a:pt x="3859636" y="431730"/>
                  </a:lnTo>
                  <a:cubicBezTo>
                    <a:pt x="3859636" y="437194"/>
                    <a:pt x="3857465" y="442435"/>
                    <a:pt x="3853602" y="446298"/>
                  </a:cubicBezTo>
                  <a:cubicBezTo>
                    <a:pt x="3849737" y="450162"/>
                    <a:pt x="3844497" y="452333"/>
                    <a:pt x="3839033" y="452333"/>
                  </a:cubicBezTo>
                  <a:lnTo>
                    <a:pt x="20603" y="452333"/>
                  </a:lnTo>
                  <a:cubicBezTo>
                    <a:pt x="15139" y="452333"/>
                    <a:pt x="9899" y="450162"/>
                    <a:pt x="6035" y="446298"/>
                  </a:cubicBezTo>
                  <a:cubicBezTo>
                    <a:pt x="2171" y="442435"/>
                    <a:pt x="0" y="437194"/>
                    <a:pt x="0" y="431730"/>
                  </a:cubicBezTo>
                  <a:lnTo>
                    <a:pt x="0" y="20603"/>
                  </a:lnTo>
                  <a:cubicBezTo>
                    <a:pt x="0" y="15139"/>
                    <a:pt x="2171" y="9899"/>
                    <a:pt x="6035" y="6035"/>
                  </a:cubicBezTo>
                  <a:cubicBezTo>
                    <a:pt x="9899" y="2171"/>
                    <a:pt x="15139" y="0"/>
                    <a:pt x="20603" y="0"/>
                  </a:cubicBezTo>
                  <a:close/>
                </a:path>
              </a:pathLst>
            </a:custGeom>
            <a:solidFill>
              <a:srgbClr val="CAE1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859636" cy="490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>
            <a:off x="-868282" y="5828910"/>
            <a:ext cx="20024565" cy="0"/>
          </a:xfrm>
          <a:prstGeom prst="line">
            <a:avLst/>
          </a:prstGeom>
          <a:ln cap="flat" w="38100">
            <a:solidFill>
              <a:srgbClr val="0253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385138" y="5162524"/>
            <a:ext cx="14654556" cy="1283052"/>
            <a:chOff x="0" y="0"/>
            <a:chExt cx="3859636" cy="3379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59636" cy="337923"/>
            </a:xfrm>
            <a:custGeom>
              <a:avLst/>
              <a:gdLst/>
              <a:ahLst/>
              <a:cxnLst/>
              <a:rect r="r" b="b" t="t" l="l"/>
              <a:pathLst>
                <a:path h="337923" w="3859636">
                  <a:moveTo>
                    <a:pt x="20603" y="0"/>
                  </a:moveTo>
                  <a:lnTo>
                    <a:pt x="3839033" y="0"/>
                  </a:lnTo>
                  <a:cubicBezTo>
                    <a:pt x="3844497" y="0"/>
                    <a:pt x="3849737" y="2171"/>
                    <a:pt x="3853602" y="6035"/>
                  </a:cubicBezTo>
                  <a:cubicBezTo>
                    <a:pt x="3857465" y="9899"/>
                    <a:pt x="3859636" y="15139"/>
                    <a:pt x="3859636" y="20603"/>
                  </a:cubicBezTo>
                  <a:lnTo>
                    <a:pt x="3859636" y="317320"/>
                  </a:lnTo>
                  <a:cubicBezTo>
                    <a:pt x="3859636" y="322784"/>
                    <a:pt x="3857465" y="328025"/>
                    <a:pt x="3853602" y="331888"/>
                  </a:cubicBezTo>
                  <a:cubicBezTo>
                    <a:pt x="3849737" y="335752"/>
                    <a:pt x="3844497" y="337923"/>
                    <a:pt x="3839033" y="337923"/>
                  </a:cubicBezTo>
                  <a:lnTo>
                    <a:pt x="20603" y="337923"/>
                  </a:lnTo>
                  <a:cubicBezTo>
                    <a:pt x="15139" y="337923"/>
                    <a:pt x="9899" y="335752"/>
                    <a:pt x="6035" y="331888"/>
                  </a:cubicBezTo>
                  <a:cubicBezTo>
                    <a:pt x="2171" y="328025"/>
                    <a:pt x="0" y="322784"/>
                    <a:pt x="0" y="317320"/>
                  </a:cubicBezTo>
                  <a:lnTo>
                    <a:pt x="0" y="20603"/>
                  </a:lnTo>
                  <a:cubicBezTo>
                    <a:pt x="0" y="15139"/>
                    <a:pt x="2171" y="9899"/>
                    <a:pt x="6035" y="6035"/>
                  </a:cubicBezTo>
                  <a:cubicBezTo>
                    <a:pt x="9899" y="2171"/>
                    <a:pt x="15139" y="0"/>
                    <a:pt x="20603" y="0"/>
                  </a:cubicBezTo>
                  <a:close/>
                </a:path>
              </a:pathLst>
            </a:custGeom>
            <a:solidFill>
              <a:srgbClr val="CAE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859636" cy="376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-868282" y="7388187"/>
            <a:ext cx="20024565" cy="0"/>
          </a:xfrm>
          <a:prstGeom prst="line">
            <a:avLst/>
          </a:prstGeom>
          <a:ln cap="flat" w="38100">
            <a:solidFill>
              <a:srgbClr val="0253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385138" y="6721801"/>
            <a:ext cx="14654556" cy="1283052"/>
            <a:chOff x="0" y="0"/>
            <a:chExt cx="3859636" cy="3379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59636" cy="337923"/>
            </a:xfrm>
            <a:custGeom>
              <a:avLst/>
              <a:gdLst/>
              <a:ahLst/>
              <a:cxnLst/>
              <a:rect r="r" b="b" t="t" l="l"/>
              <a:pathLst>
                <a:path h="337923" w="3859636">
                  <a:moveTo>
                    <a:pt x="20603" y="0"/>
                  </a:moveTo>
                  <a:lnTo>
                    <a:pt x="3839033" y="0"/>
                  </a:lnTo>
                  <a:cubicBezTo>
                    <a:pt x="3844497" y="0"/>
                    <a:pt x="3849737" y="2171"/>
                    <a:pt x="3853602" y="6035"/>
                  </a:cubicBezTo>
                  <a:cubicBezTo>
                    <a:pt x="3857465" y="9899"/>
                    <a:pt x="3859636" y="15139"/>
                    <a:pt x="3859636" y="20603"/>
                  </a:cubicBezTo>
                  <a:lnTo>
                    <a:pt x="3859636" y="317320"/>
                  </a:lnTo>
                  <a:cubicBezTo>
                    <a:pt x="3859636" y="322784"/>
                    <a:pt x="3857465" y="328025"/>
                    <a:pt x="3853602" y="331888"/>
                  </a:cubicBezTo>
                  <a:cubicBezTo>
                    <a:pt x="3849737" y="335752"/>
                    <a:pt x="3844497" y="337923"/>
                    <a:pt x="3839033" y="337923"/>
                  </a:cubicBezTo>
                  <a:lnTo>
                    <a:pt x="20603" y="337923"/>
                  </a:lnTo>
                  <a:cubicBezTo>
                    <a:pt x="15139" y="337923"/>
                    <a:pt x="9899" y="335752"/>
                    <a:pt x="6035" y="331888"/>
                  </a:cubicBezTo>
                  <a:cubicBezTo>
                    <a:pt x="2171" y="328025"/>
                    <a:pt x="0" y="322784"/>
                    <a:pt x="0" y="317320"/>
                  </a:cubicBezTo>
                  <a:lnTo>
                    <a:pt x="0" y="20603"/>
                  </a:lnTo>
                  <a:cubicBezTo>
                    <a:pt x="0" y="15139"/>
                    <a:pt x="2171" y="9899"/>
                    <a:pt x="6035" y="6035"/>
                  </a:cubicBezTo>
                  <a:cubicBezTo>
                    <a:pt x="9899" y="2171"/>
                    <a:pt x="15139" y="0"/>
                    <a:pt x="20603" y="0"/>
                  </a:cubicBezTo>
                  <a:close/>
                </a:path>
              </a:pathLst>
            </a:custGeom>
            <a:solidFill>
              <a:srgbClr val="CAE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859636" cy="376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6767" y="1813072"/>
            <a:ext cx="1074661" cy="1073418"/>
            <a:chOff x="0" y="0"/>
            <a:chExt cx="283038" cy="2827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3038" cy="282711"/>
            </a:xfrm>
            <a:custGeom>
              <a:avLst/>
              <a:gdLst/>
              <a:ahLst/>
              <a:cxnLst/>
              <a:rect r="r" b="b" t="t" l="l"/>
              <a:pathLst>
                <a:path h="282711" w="283038">
                  <a:moveTo>
                    <a:pt x="141356" y="0"/>
                  </a:moveTo>
                  <a:lnTo>
                    <a:pt x="141683" y="0"/>
                  </a:lnTo>
                  <a:cubicBezTo>
                    <a:pt x="179173" y="0"/>
                    <a:pt x="215127" y="14893"/>
                    <a:pt x="241636" y="41402"/>
                  </a:cubicBezTo>
                  <a:cubicBezTo>
                    <a:pt x="268146" y="67911"/>
                    <a:pt x="283038" y="103866"/>
                    <a:pt x="283038" y="141356"/>
                  </a:cubicBezTo>
                  <a:lnTo>
                    <a:pt x="283038" y="141356"/>
                  </a:lnTo>
                  <a:cubicBezTo>
                    <a:pt x="283038" y="219424"/>
                    <a:pt x="219751" y="282711"/>
                    <a:pt x="141683" y="282711"/>
                  </a:cubicBezTo>
                  <a:lnTo>
                    <a:pt x="141356" y="282711"/>
                  </a:lnTo>
                  <a:cubicBezTo>
                    <a:pt x="103866" y="282711"/>
                    <a:pt x="67911" y="267818"/>
                    <a:pt x="41402" y="241309"/>
                  </a:cubicBezTo>
                  <a:cubicBezTo>
                    <a:pt x="14893" y="214800"/>
                    <a:pt x="0" y="178845"/>
                    <a:pt x="0" y="141356"/>
                  </a:cubicBezTo>
                  <a:lnTo>
                    <a:pt x="0" y="141356"/>
                  </a:lnTo>
                  <a:cubicBezTo>
                    <a:pt x="0" y="103866"/>
                    <a:pt x="14893" y="67911"/>
                    <a:pt x="41402" y="41402"/>
                  </a:cubicBezTo>
                  <a:cubicBezTo>
                    <a:pt x="67911" y="14893"/>
                    <a:pt x="103866" y="0"/>
                    <a:pt x="141356" y="0"/>
                  </a:cubicBezTo>
                  <a:close/>
                </a:path>
              </a:pathLst>
            </a:custGeom>
            <a:solidFill>
              <a:srgbClr val="F7FAF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3038" cy="320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81099" y="3356169"/>
            <a:ext cx="905998" cy="1073418"/>
            <a:chOff x="0" y="0"/>
            <a:chExt cx="238617" cy="2827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8617" cy="282711"/>
            </a:xfrm>
            <a:custGeom>
              <a:avLst/>
              <a:gdLst/>
              <a:ahLst/>
              <a:cxnLst/>
              <a:rect r="r" b="b" t="t" l="l"/>
              <a:pathLst>
                <a:path h="282711" w="238617">
                  <a:moveTo>
                    <a:pt x="119308" y="0"/>
                  </a:moveTo>
                  <a:lnTo>
                    <a:pt x="119308" y="0"/>
                  </a:lnTo>
                  <a:cubicBezTo>
                    <a:pt x="150951" y="0"/>
                    <a:pt x="181298" y="12570"/>
                    <a:pt x="203672" y="34945"/>
                  </a:cubicBezTo>
                  <a:cubicBezTo>
                    <a:pt x="226047" y="57319"/>
                    <a:pt x="238617" y="87666"/>
                    <a:pt x="238617" y="119308"/>
                  </a:cubicBezTo>
                  <a:lnTo>
                    <a:pt x="238617" y="163403"/>
                  </a:lnTo>
                  <a:cubicBezTo>
                    <a:pt x="238617" y="229295"/>
                    <a:pt x="185201" y="282711"/>
                    <a:pt x="119308" y="282711"/>
                  </a:cubicBezTo>
                  <a:lnTo>
                    <a:pt x="119308" y="282711"/>
                  </a:lnTo>
                  <a:cubicBezTo>
                    <a:pt x="87666" y="282711"/>
                    <a:pt x="57319" y="270141"/>
                    <a:pt x="34945" y="247766"/>
                  </a:cubicBezTo>
                  <a:cubicBezTo>
                    <a:pt x="12570" y="225392"/>
                    <a:pt x="0" y="195045"/>
                    <a:pt x="0" y="163403"/>
                  </a:cubicBezTo>
                  <a:lnTo>
                    <a:pt x="0" y="119308"/>
                  </a:lnTo>
                  <a:cubicBezTo>
                    <a:pt x="0" y="53416"/>
                    <a:pt x="53416" y="0"/>
                    <a:pt x="119308" y="0"/>
                  </a:cubicBezTo>
                  <a:close/>
                </a:path>
              </a:pathLst>
            </a:custGeom>
            <a:solidFill>
              <a:srgbClr val="F7FA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38617" cy="320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1099" y="5378338"/>
            <a:ext cx="905998" cy="977038"/>
            <a:chOff x="0" y="0"/>
            <a:chExt cx="238617" cy="2573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8617" cy="257327"/>
            </a:xfrm>
            <a:custGeom>
              <a:avLst/>
              <a:gdLst/>
              <a:ahLst/>
              <a:cxnLst/>
              <a:rect r="r" b="b" t="t" l="l"/>
              <a:pathLst>
                <a:path h="257327" w="238617">
                  <a:moveTo>
                    <a:pt x="119308" y="0"/>
                  </a:moveTo>
                  <a:lnTo>
                    <a:pt x="119308" y="0"/>
                  </a:lnTo>
                  <a:cubicBezTo>
                    <a:pt x="150951" y="0"/>
                    <a:pt x="181298" y="12570"/>
                    <a:pt x="203672" y="34945"/>
                  </a:cubicBezTo>
                  <a:cubicBezTo>
                    <a:pt x="226047" y="57319"/>
                    <a:pt x="238617" y="87666"/>
                    <a:pt x="238617" y="119308"/>
                  </a:cubicBezTo>
                  <a:lnTo>
                    <a:pt x="238617" y="138018"/>
                  </a:lnTo>
                  <a:cubicBezTo>
                    <a:pt x="238617" y="169661"/>
                    <a:pt x="226047" y="200007"/>
                    <a:pt x="203672" y="222382"/>
                  </a:cubicBezTo>
                  <a:cubicBezTo>
                    <a:pt x="181298" y="244757"/>
                    <a:pt x="150951" y="257327"/>
                    <a:pt x="119308" y="257327"/>
                  </a:cubicBezTo>
                  <a:lnTo>
                    <a:pt x="119308" y="257327"/>
                  </a:lnTo>
                  <a:cubicBezTo>
                    <a:pt x="53416" y="257327"/>
                    <a:pt x="0" y="203911"/>
                    <a:pt x="0" y="138018"/>
                  </a:cubicBezTo>
                  <a:lnTo>
                    <a:pt x="0" y="119308"/>
                  </a:lnTo>
                  <a:cubicBezTo>
                    <a:pt x="0" y="53416"/>
                    <a:pt x="53416" y="0"/>
                    <a:pt x="119308" y="0"/>
                  </a:cubicBezTo>
                  <a:close/>
                </a:path>
              </a:pathLst>
            </a:custGeom>
            <a:solidFill>
              <a:srgbClr val="F7FA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38617" cy="295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6767" y="6771764"/>
            <a:ext cx="1040560" cy="1232846"/>
            <a:chOff x="0" y="0"/>
            <a:chExt cx="238617" cy="2827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8617" cy="282711"/>
            </a:xfrm>
            <a:custGeom>
              <a:avLst/>
              <a:gdLst/>
              <a:ahLst/>
              <a:cxnLst/>
              <a:rect r="r" b="b" t="t" l="l"/>
              <a:pathLst>
                <a:path h="282711" w="238617">
                  <a:moveTo>
                    <a:pt x="119308" y="0"/>
                  </a:moveTo>
                  <a:lnTo>
                    <a:pt x="119308" y="0"/>
                  </a:lnTo>
                  <a:cubicBezTo>
                    <a:pt x="150951" y="0"/>
                    <a:pt x="181298" y="12570"/>
                    <a:pt x="203672" y="34945"/>
                  </a:cubicBezTo>
                  <a:cubicBezTo>
                    <a:pt x="226047" y="57319"/>
                    <a:pt x="238617" y="87666"/>
                    <a:pt x="238617" y="119308"/>
                  </a:cubicBezTo>
                  <a:lnTo>
                    <a:pt x="238617" y="163403"/>
                  </a:lnTo>
                  <a:cubicBezTo>
                    <a:pt x="238617" y="229295"/>
                    <a:pt x="185201" y="282711"/>
                    <a:pt x="119308" y="282711"/>
                  </a:cubicBezTo>
                  <a:lnTo>
                    <a:pt x="119308" y="282711"/>
                  </a:lnTo>
                  <a:cubicBezTo>
                    <a:pt x="87666" y="282711"/>
                    <a:pt x="57319" y="270141"/>
                    <a:pt x="34945" y="247766"/>
                  </a:cubicBezTo>
                  <a:cubicBezTo>
                    <a:pt x="12570" y="225392"/>
                    <a:pt x="0" y="195045"/>
                    <a:pt x="0" y="163403"/>
                  </a:cubicBezTo>
                  <a:lnTo>
                    <a:pt x="0" y="119308"/>
                  </a:lnTo>
                  <a:cubicBezTo>
                    <a:pt x="0" y="53416"/>
                    <a:pt x="53416" y="0"/>
                    <a:pt x="119308" y="0"/>
                  </a:cubicBezTo>
                  <a:close/>
                </a:path>
              </a:pathLst>
            </a:custGeom>
            <a:solidFill>
              <a:srgbClr val="F7FA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38617" cy="320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-868282" y="8909363"/>
            <a:ext cx="20024565" cy="0"/>
          </a:xfrm>
          <a:prstGeom prst="line">
            <a:avLst/>
          </a:prstGeom>
          <a:ln cap="flat" w="38100">
            <a:solidFill>
              <a:srgbClr val="02539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2385138" y="8242978"/>
            <a:ext cx="14654556" cy="1283052"/>
            <a:chOff x="0" y="0"/>
            <a:chExt cx="3859636" cy="3379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59636" cy="337923"/>
            </a:xfrm>
            <a:custGeom>
              <a:avLst/>
              <a:gdLst/>
              <a:ahLst/>
              <a:cxnLst/>
              <a:rect r="r" b="b" t="t" l="l"/>
              <a:pathLst>
                <a:path h="337923" w="3859636">
                  <a:moveTo>
                    <a:pt x="20603" y="0"/>
                  </a:moveTo>
                  <a:lnTo>
                    <a:pt x="3839033" y="0"/>
                  </a:lnTo>
                  <a:cubicBezTo>
                    <a:pt x="3844497" y="0"/>
                    <a:pt x="3849737" y="2171"/>
                    <a:pt x="3853602" y="6035"/>
                  </a:cubicBezTo>
                  <a:cubicBezTo>
                    <a:pt x="3857465" y="9899"/>
                    <a:pt x="3859636" y="15139"/>
                    <a:pt x="3859636" y="20603"/>
                  </a:cubicBezTo>
                  <a:lnTo>
                    <a:pt x="3859636" y="317320"/>
                  </a:lnTo>
                  <a:cubicBezTo>
                    <a:pt x="3859636" y="322784"/>
                    <a:pt x="3857465" y="328025"/>
                    <a:pt x="3853602" y="331888"/>
                  </a:cubicBezTo>
                  <a:cubicBezTo>
                    <a:pt x="3849737" y="335752"/>
                    <a:pt x="3844497" y="337923"/>
                    <a:pt x="3839033" y="337923"/>
                  </a:cubicBezTo>
                  <a:lnTo>
                    <a:pt x="20603" y="337923"/>
                  </a:lnTo>
                  <a:cubicBezTo>
                    <a:pt x="15139" y="337923"/>
                    <a:pt x="9899" y="335752"/>
                    <a:pt x="6035" y="331888"/>
                  </a:cubicBezTo>
                  <a:cubicBezTo>
                    <a:pt x="2171" y="328025"/>
                    <a:pt x="0" y="322784"/>
                    <a:pt x="0" y="317320"/>
                  </a:cubicBezTo>
                  <a:lnTo>
                    <a:pt x="0" y="20603"/>
                  </a:lnTo>
                  <a:cubicBezTo>
                    <a:pt x="0" y="15139"/>
                    <a:pt x="2171" y="9899"/>
                    <a:pt x="6035" y="6035"/>
                  </a:cubicBezTo>
                  <a:cubicBezTo>
                    <a:pt x="9899" y="2171"/>
                    <a:pt x="15139" y="0"/>
                    <a:pt x="20603" y="0"/>
                  </a:cubicBezTo>
                  <a:close/>
                </a:path>
              </a:pathLst>
            </a:custGeom>
            <a:solidFill>
              <a:srgbClr val="CAE1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859636" cy="376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6767" y="8292940"/>
            <a:ext cx="1040560" cy="1232846"/>
            <a:chOff x="0" y="0"/>
            <a:chExt cx="238617" cy="2827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8617" cy="282711"/>
            </a:xfrm>
            <a:custGeom>
              <a:avLst/>
              <a:gdLst/>
              <a:ahLst/>
              <a:cxnLst/>
              <a:rect r="r" b="b" t="t" l="l"/>
              <a:pathLst>
                <a:path h="282711" w="238617">
                  <a:moveTo>
                    <a:pt x="119308" y="0"/>
                  </a:moveTo>
                  <a:lnTo>
                    <a:pt x="119308" y="0"/>
                  </a:lnTo>
                  <a:cubicBezTo>
                    <a:pt x="150951" y="0"/>
                    <a:pt x="181298" y="12570"/>
                    <a:pt x="203672" y="34945"/>
                  </a:cubicBezTo>
                  <a:cubicBezTo>
                    <a:pt x="226047" y="57319"/>
                    <a:pt x="238617" y="87666"/>
                    <a:pt x="238617" y="119308"/>
                  </a:cubicBezTo>
                  <a:lnTo>
                    <a:pt x="238617" y="163403"/>
                  </a:lnTo>
                  <a:cubicBezTo>
                    <a:pt x="238617" y="229295"/>
                    <a:pt x="185201" y="282711"/>
                    <a:pt x="119308" y="282711"/>
                  </a:cubicBezTo>
                  <a:lnTo>
                    <a:pt x="119308" y="282711"/>
                  </a:lnTo>
                  <a:cubicBezTo>
                    <a:pt x="87666" y="282711"/>
                    <a:pt x="57319" y="270141"/>
                    <a:pt x="34945" y="247766"/>
                  </a:cubicBezTo>
                  <a:cubicBezTo>
                    <a:pt x="12570" y="225392"/>
                    <a:pt x="0" y="195045"/>
                    <a:pt x="0" y="163403"/>
                  </a:cubicBezTo>
                  <a:lnTo>
                    <a:pt x="0" y="119308"/>
                  </a:lnTo>
                  <a:cubicBezTo>
                    <a:pt x="0" y="53416"/>
                    <a:pt x="53416" y="0"/>
                    <a:pt x="119308" y="0"/>
                  </a:cubicBezTo>
                  <a:close/>
                </a:path>
              </a:pathLst>
            </a:custGeom>
            <a:solidFill>
              <a:srgbClr val="F7FAFA"/>
            </a:solidFill>
            <a:ln cap="rnd">
              <a:noFill/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38617" cy="320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761527" y="1931802"/>
            <a:ext cx="945141" cy="954688"/>
          </a:xfrm>
          <a:custGeom>
            <a:avLst/>
            <a:gdLst/>
            <a:ahLst/>
            <a:cxnLst/>
            <a:rect r="r" b="b" t="t" l="l"/>
            <a:pathLst>
              <a:path h="954688" w="945141">
                <a:moveTo>
                  <a:pt x="0" y="0"/>
                </a:moveTo>
                <a:lnTo>
                  <a:pt x="945141" y="0"/>
                </a:lnTo>
                <a:lnTo>
                  <a:pt x="945141" y="954688"/>
                </a:lnTo>
                <a:lnTo>
                  <a:pt x="0" y="954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25830" y="3501661"/>
            <a:ext cx="782434" cy="782434"/>
          </a:xfrm>
          <a:custGeom>
            <a:avLst/>
            <a:gdLst/>
            <a:ahLst/>
            <a:cxnLst/>
            <a:rect r="r" b="b" t="t" l="l"/>
            <a:pathLst>
              <a:path h="782434" w="782434">
                <a:moveTo>
                  <a:pt x="0" y="0"/>
                </a:moveTo>
                <a:lnTo>
                  <a:pt x="782434" y="0"/>
                </a:lnTo>
                <a:lnTo>
                  <a:pt x="782434" y="782434"/>
                </a:lnTo>
                <a:lnTo>
                  <a:pt x="0" y="782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25830" y="5378338"/>
            <a:ext cx="831269" cy="814644"/>
          </a:xfrm>
          <a:custGeom>
            <a:avLst/>
            <a:gdLst/>
            <a:ahLst/>
            <a:cxnLst/>
            <a:rect r="r" b="b" t="t" l="l"/>
            <a:pathLst>
              <a:path h="814644" w="831269">
                <a:moveTo>
                  <a:pt x="0" y="0"/>
                </a:moveTo>
                <a:lnTo>
                  <a:pt x="831270" y="0"/>
                </a:lnTo>
                <a:lnTo>
                  <a:pt x="831270" y="814644"/>
                </a:lnTo>
                <a:lnTo>
                  <a:pt x="0" y="814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61527" y="6965692"/>
            <a:ext cx="873923" cy="795270"/>
          </a:xfrm>
          <a:custGeom>
            <a:avLst/>
            <a:gdLst/>
            <a:ahLst/>
            <a:cxnLst/>
            <a:rect r="r" b="b" t="t" l="l"/>
            <a:pathLst>
              <a:path h="795270" w="873923">
                <a:moveTo>
                  <a:pt x="0" y="0"/>
                </a:moveTo>
                <a:lnTo>
                  <a:pt x="873923" y="0"/>
                </a:lnTo>
                <a:lnTo>
                  <a:pt x="873923" y="795270"/>
                </a:lnTo>
                <a:lnTo>
                  <a:pt x="0" y="795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36514" y="8430212"/>
            <a:ext cx="1009901" cy="802871"/>
          </a:xfrm>
          <a:custGeom>
            <a:avLst/>
            <a:gdLst/>
            <a:ahLst/>
            <a:cxnLst/>
            <a:rect r="r" b="b" t="t" l="l"/>
            <a:pathLst>
              <a:path h="802871" w="1009901">
                <a:moveTo>
                  <a:pt x="0" y="0"/>
                </a:moveTo>
                <a:lnTo>
                  <a:pt x="1009901" y="0"/>
                </a:lnTo>
                <a:lnTo>
                  <a:pt x="1009901" y="802871"/>
                </a:lnTo>
                <a:lnTo>
                  <a:pt x="0" y="8028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0" y="740473"/>
            <a:ext cx="18288000" cy="71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1"/>
              </a:lnSpc>
              <a:spcBef>
                <a:spcPct val="0"/>
              </a:spcBef>
            </a:pPr>
            <a:r>
              <a:rPr lang="en-US" b="true" sz="5700" strike="noStrike" u="none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Objetivos Específicos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693590" y="1796403"/>
            <a:ext cx="14037653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>
                <a:solidFill>
                  <a:srgbClr val="3E3B40"/>
                </a:solidFill>
                <a:latin typeface="Bogart Bold"/>
                <a:ea typeface="Bogart Bold"/>
                <a:cs typeface="Bogart Bold"/>
                <a:sym typeface="Bogart Bold"/>
              </a:rPr>
              <a:t>1. </a:t>
            </a:r>
            <a:r>
              <a:rPr lang="en-US" sz="2899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Analizar los procesos de productos, ventas e inventario del minimarket para identificar sus necesidades y requerimientos.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623616" y="3313803"/>
            <a:ext cx="14037653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059"/>
              </a:lnSpc>
              <a:spcBef>
                <a:spcPct val="0"/>
              </a:spcBef>
            </a:pPr>
            <a:r>
              <a:rPr lang="en-US" b="true" sz="2899" strike="noStrike" u="none">
                <a:solidFill>
                  <a:srgbClr val="3E3B40"/>
                </a:solidFill>
                <a:latin typeface="Bogart Bold"/>
                <a:ea typeface="Bogart Bold"/>
                <a:cs typeface="Bogart Bold"/>
                <a:sym typeface="Bogart Bold"/>
              </a:rPr>
              <a:t>2.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Diseñar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 im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p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lement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r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u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na arqui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ectur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a de 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s capas y u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n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a base d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da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to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s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Postg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re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SQL para c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ent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ral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i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zar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y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g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s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tio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nar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pr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oduct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os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,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ve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n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tas, sto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c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k, movimient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os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,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provee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d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or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s,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usua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ios y v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ncimientos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693590" y="5267299"/>
            <a:ext cx="13985650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059"/>
              </a:lnSpc>
              <a:spcBef>
                <a:spcPct val="0"/>
              </a:spcBef>
            </a:pPr>
            <a:r>
              <a:rPr lang="en-US" b="true" sz="2899" strike="noStrike" u="none">
                <a:solidFill>
                  <a:srgbClr val="3E3B40"/>
                </a:solidFill>
                <a:latin typeface="Bogart Bold"/>
                <a:ea typeface="Bogart Bold"/>
                <a:cs typeface="Bogart Bold"/>
                <a:sym typeface="Bogart Bold"/>
              </a:rPr>
              <a:t>3.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Implem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entar la integración, validación y procesamiento de datos provenientes de DimaSoft mediante archivos Excel o CSV.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649617" y="6828657"/>
            <a:ext cx="13985650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3E3B40"/>
                </a:solidFill>
                <a:latin typeface="Bogart Bold"/>
                <a:ea typeface="Bogart Bold"/>
                <a:cs typeface="Bogart Bold"/>
                <a:sym typeface="Bogart Bold"/>
              </a:rPr>
              <a:t>4</a:t>
            </a:r>
            <a:r>
              <a:rPr lang="en-US" b="true" sz="2899" strike="noStrike" u="none">
                <a:solidFill>
                  <a:srgbClr val="3E3B40"/>
                </a:solidFill>
                <a:latin typeface="Bogart Bold"/>
                <a:ea typeface="Bogart Bold"/>
                <a:cs typeface="Bogart Bold"/>
                <a:sym typeface="Bogart Bold"/>
              </a:rPr>
              <a:t>.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 Desarrollar una PWA responsive para gestionar el in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vent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rio,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c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onsultar y escanear productos y visual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iz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dashboards, reportes y alertas.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49617" y="8349834"/>
            <a:ext cx="13985650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3E3B40"/>
                </a:solidFill>
                <a:latin typeface="Bogart Bold"/>
                <a:ea typeface="Bogart Bold"/>
                <a:cs typeface="Bogart Bold"/>
                <a:sym typeface="Bogart Bold"/>
              </a:rPr>
              <a:t>5</a:t>
            </a:r>
            <a:r>
              <a:rPr lang="en-US" b="true" sz="2899" strike="noStrike" u="none">
                <a:solidFill>
                  <a:srgbClr val="3E3B40"/>
                </a:solidFill>
                <a:latin typeface="Bogart Bold"/>
                <a:ea typeface="Bogart Bold"/>
                <a:cs typeface="Bogart Bold"/>
                <a:sym typeface="Bogart Bold"/>
              </a:rPr>
              <a:t>.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 Implementar análisis de 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d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os y Machine Learning pa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r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 identifi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c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ar t</a:t>
            </a:r>
            <a:r>
              <a:rPr lang="en-US" sz="2899" strike="noStrike" u="none">
                <a:solidFill>
                  <a:srgbClr val="3E3B40"/>
                </a:solidFill>
                <a:latin typeface="Bogart"/>
                <a:ea typeface="Bogart"/>
                <a:cs typeface="Bogart"/>
                <a:sym typeface="Bogart"/>
              </a:rPr>
              <a:t>endencias, predecir la demanda y generar recomendaciones de reposición.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0653" y="460687"/>
            <a:ext cx="13346301" cy="71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1"/>
              </a:lnSpc>
              <a:spcBef>
                <a:spcPct val="0"/>
              </a:spcBef>
            </a:pPr>
            <a:r>
              <a:rPr lang="en-US" b="true" sz="5700" strike="noStrike" u="none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Propuesta metodología de trabajo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91844" y="1333107"/>
            <a:ext cx="9104312" cy="917306"/>
            <a:chOff x="0" y="0"/>
            <a:chExt cx="12139083" cy="122307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139083" cy="1223075"/>
              <a:chOff x="0" y="0"/>
              <a:chExt cx="2519444" cy="25384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19444" cy="253847"/>
              </a:xfrm>
              <a:custGeom>
                <a:avLst/>
                <a:gdLst/>
                <a:ahLst/>
                <a:cxnLst/>
                <a:rect r="r" b="b" t="t" l="l"/>
                <a:pathLst>
                  <a:path h="253847" w="2519444">
                    <a:moveTo>
                      <a:pt x="12949" y="0"/>
                    </a:moveTo>
                    <a:lnTo>
                      <a:pt x="2506495" y="0"/>
                    </a:lnTo>
                    <a:cubicBezTo>
                      <a:pt x="2509929" y="0"/>
                      <a:pt x="2513223" y="1364"/>
                      <a:pt x="2515651" y="3793"/>
                    </a:cubicBezTo>
                    <a:cubicBezTo>
                      <a:pt x="2518080" y="6221"/>
                      <a:pt x="2519444" y="9515"/>
                      <a:pt x="2519444" y="12949"/>
                    </a:cubicBezTo>
                    <a:lnTo>
                      <a:pt x="2519444" y="240898"/>
                    </a:lnTo>
                    <a:cubicBezTo>
                      <a:pt x="2519444" y="244332"/>
                      <a:pt x="2518080" y="247626"/>
                      <a:pt x="2515651" y="250054"/>
                    </a:cubicBezTo>
                    <a:cubicBezTo>
                      <a:pt x="2513223" y="252483"/>
                      <a:pt x="2509929" y="253847"/>
                      <a:pt x="2506495" y="253847"/>
                    </a:cubicBezTo>
                    <a:lnTo>
                      <a:pt x="12949" y="253847"/>
                    </a:lnTo>
                    <a:cubicBezTo>
                      <a:pt x="9515" y="253847"/>
                      <a:pt x="6221" y="252483"/>
                      <a:pt x="3793" y="250054"/>
                    </a:cubicBezTo>
                    <a:cubicBezTo>
                      <a:pt x="1364" y="247626"/>
                      <a:pt x="0" y="244332"/>
                      <a:pt x="0" y="240898"/>
                    </a:cubicBezTo>
                    <a:lnTo>
                      <a:pt x="0" y="12949"/>
                    </a:lnTo>
                    <a:cubicBezTo>
                      <a:pt x="0" y="9515"/>
                      <a:pt x="1364" y="6221"/>
                      <a:pt x="3793" y="3793"/>
                    </a:cubicBezTo>
                    <a:cubicBezTo>
                      <a:pt x="6221" y="1364"/>
                      <a:pt x="9515" y="0"/>
                      <a:pt x="12949" y="0"/>
                    </a:cubicBezTo>
                    <a:close/>
                  </a:path>
                </a:pathLst>
              </a:custGeom>
              <a:solidFill>
                <a:srgbClr val="02337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519444" cy="310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25201" y="256988"/>
              <a:ext cx="11288680" cy="6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24"/>
                </a:lnSpc>
                <a:spcBef>
                  <a:spcPct val="0"/>
                </a:spcBef>
              </a:pPr>
              <a:r>
                <a:rPr lang="en-US" sz="2874">
                  <a:solidFill>
                    <a:srgbClr val="FFFFFF"/>
                  </a:solidFill>
                  <a:latin typeface="Batangas"/>
                  <a:ea typeface="Batangas"/>
                  <a:cs typeface="Batangas"/>
                  <a:sym typeface="Batangas"/>
                </a:rPr>
                <a:t>KANBAN + MODELO DE DESARROLLO INCREMENTAL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38867" y="2612363"/>
            <a:ext cx="5454060" cy="884286"/>
            <a:chOff x="0" y="0"/>
            <a:chExt cx="7272080" cy="117904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272080" cy="1179048"/>
              <a:chOff x="0" y="0"/>
              <a:chExt cx="1509307" cy="24470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509307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1509307">
                    <a:moveTo>
                      <a:pt x="21615" y="0"/>
                    </a:moveTo>
                    <a:lnTo>
                      <a:pt x="1487691" y="0"/>
                    </a:lnTo>
                    <a:cubicBezTo>
                      <a:pt x="1493424" y="0"/>
                      <a:pt x="1498922" y="2277"/>
                      <a:pt x="1502976" y="6331"/>
                    </a:cubicBezTo>
                    <a:cubicBezTo>
                      <a:pt x="1507029" y="10385"/>
                      <a:pt x="1509307" y="15883"/>
                      <a:pt x="1509307" y="21615"/>
                    </a:cubicBezTo>
                    <a:lnTo>
                      <a:pt x="1509307" y="223094"/>
                    </a:lnTo>
                    <a:cubicBezTo>
                      <a:pt x="1509307" y="228827"/>
                      <a:pt x="1507029" y="234325"/>
                      <a:pt x="1502976" y="238378"/>
                    </a:cubicBezTo>
                    <a:cubicBezTo>
                      <a:pt x="1498922" y="242432"/>
                      <a:pt x="1493424" y="244709"/>
                      <a:pt x="1487691" y="244709"/>
                    </a:cubicBezTo>
                    <a:lnTo>
                      <a:pt x="21615" y="244709"/>
                    </a:lnTo>
                    <a:cubicBezTo>
                      <a:pt x="15883" y="244709"/>
                      <a:pt x="10385" y="242432"/>
                      <a:pt x="6331" y="238378"/>
                    </a:cubicBezTo>
                    <a:cubicBezTo>
                      <a:pt x="2277" y="234325"/>
                      <a:pt x="0" y="228827"/>
                      <a:pt x="0" y="223094"/>
                    </a:cubicBezTo>
                    <a:lnTo>
                      <a:pt x="0" y="21615"/>
                    </a:lnTo>
                    <a:cubicBezTo>
                      <a:pt x="0" y="15883"/>
                      <a:pt x="2277" y="10385"/>
                      <a:pt x="6331" y="6331"/>
                    </a:cubicBezTo>
                    <a:cubicBezTo>
                      <a:pt x="10385" y="2277"/>
                      <a:pt x="15883" y="0"/>
                      <a:pt x="21615" y="0"/>
                    </a:cubicBezTo>
                    <a:close/>
                  </a:path>
                </a:pathLst>
              </a:custGeom>
              <a:solidFill>
                <a:srgbClr val="3C72F8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509307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723" y="276038"/>
              <a:ext cx="676263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Kanban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38867" y="3858600"/>
            <a:ext cx="5454060" cy="2839928"/>
            <a:chOff x="0" y="0"/>
            <a:chExt cx="1084340" cy="5646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4340" cy="564615"/>
            </a:xfrm>
            <a:custGeom>
              <a:avLst/>
              <a:gdLst/>
              <a:ahLst/>
              <a:cxnLst/>
              <a:rect r="r" b="b" t="t" l="l"/>
              <a:pathLst>
                <a:path h="564615" w="1084340">
                  <a:moveTo>
                    <a:pt x="55360" y="0"/>
                  </a:moveTo>
                  <a:lnTo>
                    <a:pt x="1028980" y="0"/>
                  </a:lnTo>
                  <a:cubicBezTo>
                    <a:pt x="1043662" y="0"/>
                    <a:pt x="1057743" y="5833"/>
                    <a:pt x="1068125" y="16214"/>
                  </a:cubicBezTo>
                  <a:cubicBezTo>
                    <a:pt x="1078507" y="26596"/>
                    <a:pt x="1084340" y="40677"/>
                    <a:pt x="1084340" y="55360"/>
                  </a:cubicBezTo>
                  <a:lnTo>
                    <a:pt x="1084340" y="509256"/>
                  </a:lnTo>
                  <a:cubicBezTo>
                    <a:pt x="1084340" y="523938"/>
                    <a:pt x="1078507" y="538019"/>
                    <a:pt x="1068125" y="548401"/>
                  </a:cubicBezTo>
                  <a:cubicBezTo>
                    <a:pt x="1057743" y="558783"/>
                    <a:pt x="1043662" y="564615"/>
                    <a:pt x="1028980" y="564615"/>
                  </a:cubicBezTo>
                  <a:lnTo>
                    <a:pt x="55360" y="564615"/>
                  </a:lnTo>
                  <a:cubicBezTo>
                    <a:pt x="24785" y="564615"/>
                    <a:pt x="0" y="539830"/>
                    <a:pt x="0" y="509256"/>
                  </a:cubicBezTo>
                  <a:lnTo>
                    <a:pt x="0" y="55360"/>
                  </a:lnTo>
                  <a:cubicBezTo>
                    <a:pt x="0" y="24785"/>
                    <a:pt x="24785" y="0"/>
                    <a:pt x="55360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84340" cy="621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318964" y="4192153"/>
            <a:ext cx="4493868" cy="208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Organizar l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s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actividades.</a:t>
            </a:r>
          </a:p>
          <a:p>
            <a:pPr algn="l" marL="539745" indent="-269872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Visualizar 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l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avance.</a:t>
            </a:r>
          </a:p>
          <a:p>
            <a:pPr algn="l" marL="539745" indent="-269872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Asignar responsables.</a:t>
            </a:r>
          </a:p>
          <a:p>
            <a:pPr algn="l" marL="539745" indent="-269872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Establecer prioridades.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838867" y="7060478"/>
            <a:ext cx="5454060" cy="2839928"/>
            <a:chOff x="0" y="0"/>
            <a:chExt cx="1084340" cy="5646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4340" cy="564615"/>
            </a:xfrm>
            <a:custGeom>
              <a:avLst/>
              <a:gdLst/>
              <a:ahLst/>
              <a:cxnLst/>
              <a:rect r="r" b="b" t="t" l="l"/>
              <a:pathLst>
                <a:path h="564615" w="1084340">
                  <a:moveTo>
                    <a:pt x="55360" y="0"/>
                  </a:moveTo>
                  <a:lnTo>
                    <a:pt x="1028980" y="0"/>
                  </a:lnTo>
                  <a:cubicBezTo>
                    <a:pt x="1043662" y="0"/>
                    <a:pt x="1057743" y="5833"/>
                    <a:pt x="1068125" y="16214"/>
                  </a:cubicBezTo>
                  <a:cubicBezTo>
                    <a:pt x="1078507" y="26596"/>
                    <a:pt x="1084340" y="40677"/>
                    <a:pt x="1084340" y="55360"/>
                  </a:cubicBezTo>
                  <a:lnTo>
                    <a:pt x="1084340" y="509256"/>
                  </a:lnTo>
                  <a:cubicBezTo>
                    <a:pt x="1084340" y="523938"/>
                    <a:pt x="1078507" y="538019"/>
                    <a:pt x="1068125" y="548401"/>
                  </a:cubicBezTo>
                  <a:cubicBezTo>
                    <a:pt x="1057743" y="558783"/>
                    <a:pt x="1043662" y="564615"/>
                    <a:pt x="1028980" y="564615"/>
                  </a:cubicBezTo>
                  <a:lnTo>
                    <a:pt x="55360" y="564615"/>
                  </a:lnTo>
                  <a:cubicBezTo>
                    <a:pt x="24785" y="564615"/>
                    <a:pt x="0" y="539830"/>
                    <a:pt x="0" y="509256"/>
                  </a:cubicBezTo>
                  <a:lnTo>
                    <a:pt x="0" y="55360"/>
                  </a:lnTo>
                  <a:cubicBezTo>
                    <a:pt x="0" y="24785"/>
                    <a:pt x="24785" y="0"/>
                    <a:pt x="55360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84340" cy="621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318964" y="7394031"/>
            <a:ext cx="4493868" cy="208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Pendien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te</a:t>
            </a:r>
          </a:p>
          <a:p>
            <a:pPr algn="l" marL="539745" indent="-269872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En desarrollo</a:t>
            </a:r>
          </a:p>
          <a:p>
            <a:pPr algn="l" marL="539745" indent="-269872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En revisión</a:t>
            </a:r>
          </a:p>
          <a:p>
            <a:pPr algn="l" marL="539745" indent="-269872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Terminado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798487" y="2612363"/>
            <a:ext cx="9460813" cy="884286"/>
            <a:chOff x="0" y="0"/>
            <a:chExt cx="12614418" cy="117904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2614418" cy="1179048"/>
              <a:chOff x="0" y="0"/>
              <a:chExt cx="2618099" cy="24470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618099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618099">
                    <a:moveTo>
                      <a:pt x="12461" y="0"/>
                    </a:moveTo>
                    <a:lnTo>
                      <a:pt x="2605638" y="0"/>
                    </a:lnTo>
                    <a:cubicBezTo>
                      <a:pt x="2608942" y="0"/>
                      <a:pt x="2612112" y="1313"/>
                      <a:pt x="2614449" y="3650"/>
                    </a:cubicBezTo>
                    <a:cubicBezTo>
                      <a:pt x="2616786" y="5987"/>
                      <a:pt x="2618099" y="9156"/>
                      <a:pt x="2618099" y="12461"/>
                    </a:cubicBezTo>
                    <a:lnTo>
                      <a:pt x="2618099" y="232248"/>
                    </a:lnTo>
                    <a:cubicBezTo>
                      <a:pt x="2618099" y="235553"/>
                      <a:pt x="2616786" y="238723"/>
                      <a:pt x="2614449" y="241060"/>
                    </a:cubicBezTo>
                    <a:cubicBezTo>
                      <a:pt x="2612112" y="243396"/>
                      <a:pt x="2608942" y="244709"/>
                      <a:pt x="2605638" y="244709"/>
                    </a:cubicBezTo>
                    <a:lnTo>
                      <a:pt x="12461" y="244709"/>
                    </a:lnTo>
                    <a:cubicBezTo>
                      <a:pt x="5579" y="244709"/>
                      <a:pt x="0" y="239130"/>
                      <a:pt x="0" y="232248"/>
                    </a:cubicBezTo>
                    <a:lnTo>
                      <a:pt x="0" y="12461"/>
                    </a:lnTo>
                    <a:cubicBezTo>
                      <a:pt x="0" y="9156"/>
                      <a:pt x="1313" y="5987"/>
                      <a:pt x="3650" y="3650"/>
                    </a:cubicBezTo>
                    <a:cubicBezTo>
                      <a:pt x="5987" y="1313"/>
                      <a:pt x="9156" y="0"/>
                      <a:pt x="12461" y="0"/>
                    </a:cubicBezTo>
                    <a:close/>
                  </a:path>
                </a:pathLst>
              </a:custGeom>
              <a:solidFill>
                <a:srgbClr val="3C72F8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2618099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41851" y="276038"/>
              <a:ext cx="1173071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 strike="noStrike" u="none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Desarrollo Incremental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98487" y="5970143"/>
            <a:ext cx="9460813" cy="3930263"/>
            <a:chOff x="0" y="0"/>
            <a:chExt cx="1880935" cy="7813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80935" cy="781389"/>
            </a:xfrm>
            <a:custGeom>
              <a:avLst/>
              <a:gdLst/>
              <a:ahLst/>
              <a:cxnLst/>
              <a:rect r="r" b="b" t="t" l="l"/>
              <a:pathLst>
                <a:path h="781389" w="1880935">
                  <a:moveTo>
                    <a:pt x="31914" y="0"/>
                  </a:moveTo>
                  <a:lnTo>
                    <a:pt x="1849021" y="0"/>
                  </a:lnTo>
                  <a:cubicBezTo>
                    <a:pt x="1857485" y="0"/>
                    <a:pt x="1865603" y="3362"/>
                    <a:pt x="1871588" y="9347"/>
                  </a:cubicBezTo>
                  <a:cubicBezTo>
                    <a:pt x="1877573" y="15333"/>
                    <a:pt x="1880935" y="23450"/>
                    <a:pt x="1880935" y="31914"/>
                  </a:cubicBezTo>
                  <a:lnTo>
                    <a:pt x="1880935" y="749474"/>
                  </a:lnTo>
                  <a:cubicBezTo>
                    <a:pt x="1880935" y="767100"/>
                    <a:pt x="1866647" y="781389"/>
                    <a:pt x="1849021" y="781389"/>
                  </a:cubicBezTo>
                  <a:lnTo>
                    <a:pt x="31914" y="781389"/>
                  </a:lnTo>
                  <a:cubicBezTo>
                    <a:pt x="14289" y="781389"/>
                    <a:pt x="0" y="767100"/>
                    <a:pt x="0" y="749474"/>
                  </a:cubicBezTo>
                  <a:lnTo>
                    <a:pt x="0" y="31914"/>
                  </a:lnTo>
                  <a:cubicBezTo>
                    <a:pt x="0" y="14289"/>
                    <a:pt x="14289" y="0"/>
                    <a:pt x="31914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880935" cy="838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152794" y="6014398"/>
            <a:ext cx="8752198" cy="357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5824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Incremento 1: B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se y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 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arquitectura</a:t>
            </a:r>
          </a:p>
          <a:p>
            <a:pPr algn="l" marL="539745" indent="-269872" lvl="1">
              <a:lnSpc>
                <a:spcPts val="5824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Incremento 2: Gestión d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 in</a:t>
            </a: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ventario</a:t>
            </a:r>
          </a:p>
          <a:p>
            <a:pPr algn="l" marL="539745" indent="-269872" lvl="1">
              <a:lnSpc>
                <a:spcPts val="5824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Incremento 3: Integración con DimaSoft</a:t>
            </a:r>
          </a:p>
          <a:p>
            <a:pPr algn="l" marL="539745" indent="-269872" lvl="1">
              <a:lnSpc>
                <a:spcPts val="5824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Incremento 4: PWA responsive y dashboard</a:t>
            </a:r>
          </a:p>
          <a:p>
            <a:pPr algn="l" marL="539745" indent="-269872" lvl="1">
              <a:lnSpc>
                <a:spcPts val="5824"/>
              </a:lnSpc>
              <a:buFont typeface="Arial"/>
              <a:buChar char="•"/>
            </a:pPr>
            <a:r>
              <a:rPr lang="en-US" sz="24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Incremento 5: Alertas, analítica, ML y recomendaciones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798487" y="3858600"/>
            <a:ext cx="9460813" cy="1749593"/>
            <a:chOff x="0" y="0"/>
            <a:chExt cx="1880935" cy="34784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80935" cy="347842"/>
            </a:xfrm>
            <a:custGeom>
              <a:avLst/>
              <a:gdLst/>
              <a:ahLst/>
              <a:cxnLst/>
              <a:rect r="r" b="b" t="t" l="l"/>
              <a:pathLst>
                <a:path h="347842" w="1880935">
                  <a:moveTo>
                    <a:pt x="31914" y="0"/>
                  </a:moveTo>
                  <a:lnTo>
                    <a:pt x="1849021" y="0"/>
                  </a:lnTo>
                  <a:cubicBezTo>
                    <a:pt x="1857485" y="0"/>
                    <a:pt x="1865603" y="3362"/>
                    <a:pt x="1871588" y="9347"/>
                  </a:cubicBezTo>
                  <a:cubicBezTo>
                    <a:pt x="1877573" y="15333"/>
                    <a:pt x="1880935" y="23450"/>
                    <a:pt x="1880935" y="31914"/>
                  </a:cubicBezTo>
                  <a:lnTo>
                    <a:pt x="1880935" y="315928"/>
                  </a:lnTo>
                  <a:cubicBezTo>
                    <a:pt x="1880935" y="333554"/>
                    <a:pt x="1866647" y="347842"/>
                    <a:pt x="1849021" y="347842"/>
                  </a:cubicBezTo>
                  <a:lnTo>
                    <a:pt x="31914" y="347842"/>
                  </a:lnTo>
                  <a:cubicBezTo>
                    <a:pt x="14289" y="347842"/>
                    <a:pt x="0" y="333554"/>
                    <a:pt x="0" y="315928"/>
                  </a:cubicBezTo>
                  <a:lnTo>
                    <a:pt x="0" y="31914"/>
                  </a:lnTo>
                  <a:cubicBezTo>
                    <a:pt x="0" y="14289"/>
                    <a:pt x="14289" y="0"/>
                    <a:pt x="31914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880935" cy="404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346844" y="4146021"/>
            <a:ext cx="8558148" cy="107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9"/>
              </a:lnSpc>
            </a:pPr>
            <a:r>
              <a:rPr lang="en-US" sz="25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El sistema será construido progresivamente mediante incrementos funcionales.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5864" y="1028700"/>
            <a:ext cx="16152749" cy="8502194"/>
          </a:xfrm>
          <a:custGeom>
            <a:avLst/>
            <a:gdLst/>
            <a:ahLst/>
            <a:cxnLst/>
            <a:rect r="r" b="b" t="t" l="l"/>
            <a:pathLst>
              <a:path h="8502194" w="16152749">
                <a:moveTo>
                  <a:pt x="0" y="0"/>
                </a:moveTo>
                <a:lnTo>
                  <a:pt x="16152749" y="0"/>
                </a:lnTo>
                <a:lnTo>
                  <a:pt x="16152749" y="8502194"/>
                </a:lnTo>
                <a:lnTo>
                  <a:pt x="0" y="8502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8694"/>
            <a:ext cx="16230600" cy="81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1"/>
              </a:lnSpc>
              <a:spcBef>
                <a:spcPct val="0"/>
              </a:spcBef>
            </a:pPr>
            <a:r>
              <a:rPr lang="en-US" b="true" sz="6399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Plan de trabajo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09371"/>
            <a:ext cx="18298895" cy="71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1"/>
              </a:lnSpc>
              <a:spcBef>
                <a:spcPct val="0"/>
              </a:spcBef>
            </a:pPr>
            <a:r>
              <a:rPr lang="en-US" b="true" sz="57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Evidencias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21273" y="1040665"/>
            <a:ext cx="7824354" cy="917306"/>
            <a:chOff x="0" y="0"/>
            <a:chExt cx="10432472" cy="122307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432472" cy="1223075"/>
              <a:chOff x="0" y="0"/>
              <a:chExt cx="2165240" cy="25384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165240" cy="253847"/>
              </a:xfrm>
              <a:custGeom>
                <a:avLst/>
                <a:gdLst/>
                <a:ahLst/>
                <a:cxnLst/>
                <a:rect r="r" b="b" t="t" l="l"/>
                <a:pathLst>
                  <a:path h="253847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38780"/>
                    </a:lnTo>
                    <a:cubicBezTo>
                      <a:pt x="2165240" y="242776"/>
                      <a:pt x="2163652" y="246608"/>
                      <a:pt x="2160827" y="249434"/>
                    </a:cubicBezTo>
                    <a:cubicBezTo>
                      <a:pt x="2158001" y="252260"/>
                      <a:pt x="2154169" y="253847"/>
                      <a:pt x="2150173" y="253847"/>
                    </a:cubicBezTo>
                    <a:lnTo>
                      <a:pt x="15067" y="253847"/>
                    </a:lnTo>
                    <a:cubicBezTo>
                      <a:pt x="11071" y="253847"/>
                      <a:pt x="7239" y="252260"/>
                      <a:pt x="4413" y="249434"/>
                    </a:cubicBezTo>
                    <a:cubicBezTo>
                      <a:pt x="1587" y="246608"/>
                      <a:pt x="0" y="242776"/>
                      <a:pt x="0" y="238780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02337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165240" cy="310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65423" y="256988"/>
              <a:ext cx="9701625" cy="6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24"/>
                </a:lnSpc>
                <a:spcBef>
                  <a:spcPct val="0"/>
                </a:spcBef>
              </a:pPr>
              <a:r>
                <a:rPr lang="en-US" sz="2874">
                  <a:solidFill>
                    <a:srgbClr val="FFFFFF"/>
                  </a:solidFill>
                  <a:latin typeface="Batangas"/>
                  <a:ea typeface="Batangas"/>
                  <a:cs typeface="Batangas"/>
                  <a:sym typeface="Batangas"/>
                </a:rPr>
                <a:t>EVIDENCIA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60450" y="1028700"/>
            <a:ext cx="7598850" cy="917306"/>
            <a:chOff x="0" y="0"/>
            <a:chExt cx="10131800" cy="122307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31800" cy="1223075"/>
              <a:chOff x="0" y="0"/>
              <a:chExt cx="2102836" cy="25384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02836" cy="253847"/>
              </a:xfrm>
              <a:custGeom>
                <a:avLst/>
                <a:gdLst/>
                <a:ahLst/>
                <a:cxnLst/>
                <a:rect r="r" b="b" t="t" l="l"/>
                <a:pathLst>
                  <a:path h="25384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38333"/>
                    </a:lnTo>
                    <a:cubicBezTo>
                      <a:pt x="2102836" y="246901"/>
                      <a:pt x="2095890" y="253847"/>
                      <a:pt x="2087321" y="253847"/>
                    </a:cubicBezTo>
                    <a:lnTo>
                      <a:pt x="15514" y="253847"/>
                    </a:lnTo>
                    <a:cubicBezTo>
                      <a:pt x="6946" y="253847"/>
                      <a:pt x="0" y="246901"/>
                      <a:pt x="0" y="23833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02337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2102836" cy="310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54891" y="256988"/>
              <a:ext cx="9422017" cy="6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24"/>
                </a:lnSpc>
                <a:spcBef>
                  <a:spcPct val="0"/>
                </a:spcBef>
              </a:pPr>
              <a:r>
                <a:rPr lang="en-US" sz="2874">
                  <a:solidFill>
                    <a:srgbClr val="FFFFFF"/>
                  </a:solidFill>
                  <a:latin typeface="Batangas"/>
                  <a:ea typeface="Batangas"/>
                  <a:cs typeface="Batangas"/>
                  <a:sym typeface="Batangas"/>
                </a:rPr>
                <a:t>JUSTIFICACIÓN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1273" y="2139157"/>
            <a:ext cx="7824354" cy="884286"/>
            <a:chOff x="0" y="0"/>
            <a:chExt cx="10432472" cy="117904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Requisit</a:t>
              </a: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os RF/RNF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60450" y="2127192"/>
            <a:ext cx="7598850" cy="860791"/>
            <a:chOff x="0" y="0"/>
            <a:chExt cx="10131800" cy="114772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Defin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 alcance y necesidades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21273" y="3110571"/>
            <a:ext cx="7824354" cy="884286"/>
            <a:chOff x="0" y="0"/>
            <a:chExt cx="10432472" cy="117904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M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o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ckup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60450" y="3098606"/>
            <a:ext cx="7598850" cy="860791"/>
            <a:chOff x="0" y="0"/>
            <a:chExt cx="10131800" cy="114772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Permite validar 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nt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erf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aces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21273" y="4107152"/>
            <a:ext cx="7824354" cy="884286"/>
            <a:chOff x="0" y="0"/>
            <a:chExt cx="10432472" cy="117904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A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rqui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tec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t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ura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60450" y="4095187"/>
            <a:ext cx="7598850" cy="860791"/>
            <a:chOff x="0" y="0"/>
            <a:chExt cx="10131800" cy="114772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Defi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 co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m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pon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ent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s e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t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gra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ci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ón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21273" y="5103734"/>
            <a:ext cx="7824354" cy="884286"/>
            <a:chOff x="0" y="0"/>
            <a:chExt cx="10432472" cy="1179048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Bas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e de 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da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tos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60450" y="5091769"/>
            <a:ext cx="7598850" cy="860791"/>
            <a:chOff x="0" y="0"/>
            <a:chExt cx="10131800" cy="1147722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Org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ani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z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 la 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nfor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m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ac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ó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21273" y="6100315"/>
            <a:ext cx="7824354" cy="884286"/>
            <a:chOff x="0" y="0"/>
            <a:chExt cx="10432472" cy="1179048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Protot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i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po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 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f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u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nc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i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on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a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60450" y="6088350"/>
            <a:ext cx="7598850" cy="860791"/>
            <a:chOff x="0" y="0"/>
            <a:chExt cx="10131800" cy="1147722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rm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ite validar 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l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avanc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621273" y="7087372"/>
            <a:ext cx="7824354" cy="884286"/>
            <a:chOff x="0" y="0"/>
            <a:chExt cx="10432472" cy="1179048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T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r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e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s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Stock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 i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nt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e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grado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60450" y="7075407"/>
            <a:ext cx="7598850" cy="860791"/>
            <a:chOff x="0" y="0"/>
            <a:chExt cx="10131800" cy="1147722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Demu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es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tra cum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plimie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nt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 de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objetivos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21273" y="8083953"/>
            <a:ext cx="7824354" cy="884286"/>
            <a:chOff x="0" y="0"/>
            <a:chExt cx="10432472" cy="1179048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Prueba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s de 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s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o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ftware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60450" y="8071988"/>
            <a:ext cx="7598850" cy="860791"/>
            <a:chOff x="0" y="0"/>
            <a:chExt cx="10131800" cy="1147722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2" id="8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Verifica fun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cionam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i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en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t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o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615826" y="9113555"/>
            <a:ext cx="7824354" cy="884286"/>
            <a:chOff x="0" y="0"/>
            <a:chExt cx="10432472" cy="1179048"/>
          </a:xfrm>
        </p:grpSpPr>
        <p:grpSp>
          <p:nvGrpSpPr>
            <p:cNvPr name="Group 84" id="84"/>
            <p:cNvGrpSpPr/>
            <p:nvPr/>
          </p:nvGrpSpPr>
          <p:grpSpPr>
            <a:xfrm rot="0">
              <a:off x="0" y="0"/>
              <a:ext cx="10432472" cy="1179048"/>
              <a:chOff x="0" y="0"/>
              <a:chExt cx="2165240" cy="244709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2165240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165240">
                    <a:moveTo>
                      <a:pt x="15067" y="0"/>
                    </a:moveTo>
                    <a:lnTo>
                      <a:pt x="2150173" y="0"/>
                    </a:lnTo>
                    <a:cubicBezTo>
                      <a:pt x="2154169" y="0"/>
                      <a:pt x="2158001" y="1587"/>
                      <a:pt x="2160827" y="4413"/>
                    </a:cubicBezTo>
                    <a:cubicBezTo>
                      <a:pt x="2163652" y="7239"/>
                      <a:pt x="2165240" y="11071"/>
                      <a:pt x="2165240" y="15067"/>
                    </a:cubicBezTo>
                    <a:lnTo>
                      <a:pt x="2165240" y="229642"/>
                    </a:lnTo>
                    <a:cubicBezTo>
                      <a:pt x="2165240" y="233638"/>
                      <a:pt x="2163652" y="237470"/>
                      <a:pt x="2160827" y="240296"/>
                    </a:cubicBezTo>
                    <a:cubicBezTo>
                      <a:pt x="2158001" y="243122"/>
                      <a:pt x="2154169" y="244709"/>
                      <a:pt x="2150173" y="244709"/>
                    </a:cubicBezTo>
                    <a:lnTo>
                      <a:pt x="15067" y="244709"/>
                    </a:lnTo>
                    <a:cubicBezTo>
                      <a:pt x="11071" y="244709"/>
                      <a:pt x="7239" y="243122"/>
                      <a:pt x="4413" y="240296"/>
                    </a:cubicBezTo>
                    <a:cubicBezTo>
                      <a:pt x="1587" y="237470"/>
                      <a:pt x="0" y="233638"/>
                      <a:pt x="0" y="229642"/>
                    </a:cubicBezTo>
                    <a:lnTo>
                      <a:pt x="0" y="15067"/>
                    </a:lnTo>
                    <a:cubicBezTo>
                      <a:pt x="0" y="11071"/>
                      <a:pt x="1587" y="7239"/>
                      <a:pt x="4413" y="4413"/>
                    </a:cubicBezTo>
                    <a:cubicBezTo>
                      <a:pt x="7239" y="1587"/>
                      <a:pt x="11071" y="0"/>
                      <a:pt x="15067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57150"/>
                <a:ext cx="2165240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7" id="87"/>
            <p:cNvSpPr txBox="true"/>
            <p:nvPr/>
          </p:nvSpPr>
          <p:spPr>
            <a:xfrm rot="0">
              <a:off x="365423" y="276038"/>
              <a:ext cx="970162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De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s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pl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ie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gue y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 d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em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os</a:t>
              </a:r>
              <a:r>
                <a:rPr lang="en-US" b="true" sz="2674" strike="noStrike" u="none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tración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655002" y="9101590"/>
            <a:ext cx="7598850" cy="860791"/>
            <a:chOff x="0" y="0"/>
            <a:chExt cx="10131800" cy="1147722"/>
          </a:xfrm>
        </p:grpSpPr>
        <p:grpSp>
          <p:nvGrpSpPr>
            <p:cNvPr name="Group 89" id="89"/>
            <p:cNvGrpSpPr/>
            <p:nvPr/>
          </p:nvGrpSpPr>
          <p:grpSpPr>
            <a:xfrm rot="0">
              <a:off x="0" y="0"/>
              <a:ext cx="10131800" cy="1147722"/>
              <a:chOff x="0" y="0"/>
              <a:chExt cx="2102836" cy="238207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2102836" cy="238207"/>
              </a:xfrm>
              <a:custGeom>
                <a:avLst/>
                <a:gdLst/>
                <a:ahLst/>
                <a:cxnLst/>
                <a:rect r="r" b="b" t="t" l="l"/>
                <a:pathLst>
                  <a:path h="238207" w="2102836">
                    <a:moveTo>
                      <a:pt x="15514" y="0"/>
                    </a:moveTo>
                    <a:lnTo>
                      <a:pt x="2087321" y="0"/>
                    </a:lnTo>
                    <a:cubicBezTo>
                      <a:pt x="2091436" y="0"/>
                      <a:pt x="2095382" y="1635"/>
                      <a:pt x="2098292" y="4544"/>
                    </a:cubicBezTo>
                    <a:cubicBezTo>
                      <a:pt x="2101201" y="7454"/>
                      <a:pt x="2102836" y="11400"/>
                      <a:pt x="2102836" y="15514"/>
                    </a:cubicBezTo>
                    <a:lnTo>
                      <a:pt x="2102836" y="222693"/>
                    </a:lnTo>
                    <a:cubicBezTo>
                      <a:pt x="2102836" y="231261"/>
                      <a:pt x="2095890" y="238207"/>
                      <a:pt x="2087321" y="238207"/>
                    </a:cubicBezTo>
                    <a:lnTo>
                      <a:pt x="15514" y="238207"/>
                    </a:lnTo>
                    <a:cubicBezTo>
                      <a:pt x="6946" y="238207"/>
                      <a:pt x="0" y="231261"/>
                      <a:pt x="0" y="222693"/>
                    </a:cubicBezTo>
                    <a:lnTo>
                      <a:pt x="0" y="15514"/>
                    </a:lnTo>
                    <a:cubicBezTo>
                      <a:pt x="0" y="6946"/>
                      <a:pt x="6946" y="0"/>
                      <a:pt x="15514" y="0"/>
                    </a:cubicBezTo>
                    <a:close/>
                  </a:path>
                </a:pathLst>
              </a:custGeom>
              <a:solidFill>
                <a:srgbClr val="CAE1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57150"/>
                <a:ext cx="2102836" cy="295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2" id="92"/>
            <p:cNvSpPr txBox="true"/>
            <p:nvPr/>
          </p:nvSpPr>
          <p:spPr>
            <a:xfrm rot="0">
              <a:off x="354891" y="285563"/>
              <a:ext cx="9422017" cy="538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64"/>
                </a:lnSpc>
                <a:spcBef>
                  <a:spcPct val="0"/>
                </a:spcBef>
              </a:pPr>
              <a:r>
                <a:rPr lang="en-US" sz="2474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Comprueba la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je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cución del 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sist</a:t>
              </a:r>
              <a:r>
                <a:rPr lang="en-US" sz="2474" strike="noStrike" u="none">
                  <a:solidFill>
                    <a:srgbClr val="000000"/>
                  </a:solidFill>
                  <a:latin typeface="Bogart"/>
                  <a:ea typeface="Bogart"/>
                  <a:cs typeface="Bogart"/>
                  <a:sym typeface="Bogart"/>
                </a:rPr>
                <a:t>ema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-5400000">
            <a:off x="-1255570" y="4224600"/>
            <a:ext cx="4845444" cy="674560"/>
            <a:chOff x="0" y="0"/>
            <a:chExt cx="6460592" cy="899413"/>
          </a:xfrm>
        </p:grpSpPr>
        <p:grpSp>
          <p:nvGrpSpPr>
            <p:cNvPr name="Group 94" id="94"/>
            <p:cNvGrpSpPr/>
            <p:nvPr/>
          </p:nvGrpSpPr>
          <p:grpSpPr>
            <a:xfrm rot="0">
              <a:off x="0" y="0"/>
              <a:ext cx="6460592" cy="899413"/>
              <a:chOff x="0" y="0"/>
              <a:chExt cx="1340884" cy="186671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1340884" cy="186671"/>
              </a:xfrm>
              <a:custGeom>
                <a:avLst/>
                <a:gdLst/>
                <a:ahLst/>
                <a:cxnLst/>
                <a:rect r="r" b="b" t="t" l="l"/>
                <a:pathLst>
                  <a:path h="186671" w="1340884">
                    <a:moveTo>
                      <a:pt x="24331" y="0"/>
                    </a:moveTo>
                    <a:lnTo>
                      <a:pt x="1316553" y="0"/>
                    </a:lnTo>
                    <a:cubicBezTo>
                      <a:pt x="1329991" y="0"/>
                      <a:pt x="1340884" y="10893"/>
                      <a:pt x="1340884" y="24331"/>
                    </a:cubicBezTo>
                    <a:lnTo>
                      <a:pt x="1340884" y="162341"/>
                    </a:lnTo>
                    <a:cubicBezTo>
                      <a:pt x="1340884" y="175778"/>
                      <a:pt x="1329991" y="186671"/>
                      <a:pt x="1316553" y="186671"/>
                    </a:cubicBezTo>
                    <a:lnTo>
                      <a:pt x="24331" y="186671"/>
                    </a:lnTo>
                    <a:cubicBezTo>
                      <a:pt x="17878" y="186671"/>
                      <a:pt x="11689" y="184108"/>
                      <a:pt x="7126" y="179545"/>
                    </a:cubicBezTo>
                    <a:cubicBezTo>
                      <a:pt x="2563" y="174982"/>
                      <a:pt x="0" y="168794"/>
                      <a:pt x="0" y="162341"/>
                    </a:cubicBezTo>
                    <a:lnTo>
                      <a:pt x="0" y="24331"/>
                    </a:lnTo>
                    <a:cubicBezTo>
                      <a:pt x="0" y="10893"/>
                      <a:pt x="10893" y="0"/>
                      <a:pt x="24331" y="0"/>
                    </a:cubicBezTo>
                    <a:close/>
                  </a:path>
                </a:pathLst>
              </a:custGeom>
              <a:solidFill>
                <a:srgbClr val="02337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57150"/>
                <a:ext cx="1340884" cy="2438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7" id="97"/>
            <p:cNvSpPr txBox="true"/>
            <p:nvPr/>
          </p:nvSpPr>
          <p:spPr>
            <a:xfrm rot="0">
              <a:off x="226298" y="95156"/>
              <a:ext cx="6007996" cy="6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24"/>
                </a:lnSpc>
                <a:spcBef>
                  <a:spcPct val="0"/>
                </a:spcBef>
              </a:pPr>
              <a:r>
                <a:rPr lang="en-US" sz="2874">
                  <a:solidFill>
                    <a:srgbClr val="FFFFFF"/>
                  </a:solidFill>
                  <a:latin typeface="Batangas"/>
                  <a:ea typeface="Batangas"/>
                  <a:cs typeface="Batangas"/>
                  <a:sym typeface="Batangas"/>
                </a:rPr>
                <a:t>AVANCE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-5400000">
            <a:off x="-283634" y="8200878"/>
            <a:ext cx="2901572" cy="674560"/>
            <a:chOff x="0" y="0"/>
            <a:chExt cx="3868763" cy="899413"/>
          </a:xfrm>
        </p:grpSpPr>
        <p:grpSp>
          <p:nvGrpSpPr>
            <p:cNvPr name="Group 99" id="99"/>
            <p:cNvGrpSpPr/>
            <p:nvPr/>
          </p:nvGrpSpPr>
          <p:grpSpPr>
            <a:xfrm rot="0">
              <a:off x="0" y="0"/>
              <a:ext cx="3868763" cy="899413"/>
              <a:chOff x="0" y="0"/>
              <a:chExt cx="802955" cy="186671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802955" cy="186671"/>
              </a:xfrm>
              <a:custGeom>
                <a:avLst/>
                <a:gdLst/>
                <a:ahLst/>
                <a:cxnLst/>
                <a:rect r="r" b="b" t="t" l="l"/>
                <a:pathLst>
                  <a:path h="186671" w="802955">
                    <a:moveTo>
                      <a:pt x="40630" y="0"/>
                    </a:moveTo>
                    <a:lnTo>
                      <a:pt x="762324" y="0"/>
                    </a:lnTo>
                    <a:cubicBezTo>
                      <a:pt x="773100" y="0"/>
                      <a:pt x="783434" y="4281"/>
                      <a:pt x="791054" y="11900"/>
                    </a:cubicBezTo>
                    <a:cubicBezTo>
                      <a:pt x="798674" y="19520"/>
                      <a:pt x="802955" y="29855"/>
                      <a:pt x="802955" y="40630"/>
                    </a:cubicBezTo>
                    <a:lnTo>
                      <a:pt x="802955" y="146041"/>
                    </a:lnTo>
                    <a:cubicBezTo>
                      <a:pt x="802955" y="156817"/>
                      <a:pt x="798674" y="167151"/>
                      <a:pt x="791054" y="174771"/>
                    </a:cubicBezTo>
                    <a:cubicBezTo>
                      <a:pt x="783434" y="182391"/>
                      <a:pt x="773100" y="186671"/>
                      <a:pt x="762324" y="186671"/>
                    </a:cubicBezTo>
                    <a:lnTo>
                      <a:pt x="40630" y="186671"/>
                    </a:lnTo>
                    <a:cubicBezTo>
                      <a:pt x="29855" y="186671"/>
                      <a:pt x="19520" y="182391"/>
                      <a:pt x="11900" y="174771"/>
                    </a:cubicBezTo>
                    <a:cubicBezTo>
                      <a:pt x="4281" y="167151"/>
                      <a:pt x="0" y="156817"/>
                      <a:pt x="0" y="146041"/>
                    </a:cubicBezTo>
                    <a:lnTo>
                      <a:pt x="0" y="40630"/>
                    </a:lnTo>
                    <a:cubicBezTo>
                      <a:pt x="0" y="29855"/>
                      <a:pt x="4281" y="19520"/>
                      <a:pt x="11900" y="11900"/>
                    </a:cubicBezTo>
                    <a:cubicBezTo>
                      <a:pt x="19520" y="4281"/>
                      <a:pt x="29855" y="0"/>
                      <a:pt x="40630" y="0"/>
                    </a:cubicBezTo>
                    <a:close/>
                  </a:path>
                </a:pathLst>
              </a:custGeom>
              <a:solidFill>
                <a:srgbClr val="02337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0" y="-57150"/>
                <a:ext cx="802955" cy="2438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2" id="102"/>
            <p:cNvSpPr txBox="true"/>
            <p:nvPr/>
          </p:nvSpPr>
          <p:spPr>
            <a:xfrm rot="0">
              <a:off x="135513" y="95156"/>
              <a:ext cx="3597737" cy="6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24"/>
                </a:lnSpc>
                <a:spcBef>
                  <a:spcPct val="0"/>
                </a:spcBef>
              </a:pPr>
              <a:r>
                <a:rPr lang="en-US" sz="2874">
                  <a:solidFill>
                    <a:srgbClr val="FFFFFF"/>
                  </a:solidFill>
                  <a:latin typeface="Batangas"/>
                  <a:ea typeface="Batangas"/>
                  <a:cs typeface="Batangas"/>
                  <a:sym typeface="Batangas"/>
                </a:rPr>
                <a:t>FINALES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91844" y="1333107"/>
            <a:ext cx="9104312" cy="917306"/>
            <a:chOff x="0" y="0"/>
            <a:chExt cx="12139083" cy="12230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139083" cy="1223075"/>
              <a:chOff x="0" y="0"/>
              <a:chExt cx="2519444" cy="2538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19444" cy="253847"/>
              </a:xfrm>
              <a:custGeom>
                <a:avLst/>
                <a:gdLst/>
                <a:ahLst/>
                <a:cxnLst/>
                <a:rect r="r" b="b" t="t" l="l"/>
                <a:pathLst>
                  <a:path h="253847" w="2519444">
                    <a:moveTo>
                      <a:pt x="12949" y="0"/>
                    </a:moveTo>
                    <a:lnTo>
                      <a:pt x="2506495" y="0"/>
                    </a:lnTo>
                    <a:cubicBezTo>
                      <a:pt x="2509929" y="0"/>
                      <a:pt x="2513223" y="1364"/>
                      <a:pt x="2515651" y="3793"/>
                    </a:cubicBezTo>
                    <a:cubicBezTo>
                      <a:pt x="2518080" y="6221"/>
                      <a:pt x="2519444" y="9515"/>
                      <a:pt x="2519444" y="12949"/>
                    </a:cubicBezTo>
                    <a:lnTo>
                      <a:pt x="2519444" y="240898"/>
                    </a:lnTo>
                    <a:cubicBezTo>
                      <a:pt x="2519444" y="244332"/>
                      <a:pt x="2518080" y="247626"/>
                      <a:pt x="2515651" y="250054"/>
                    </a:cubicBezTo>
                    <a:cubicBezTo>
                      <a:pt x="2513223" y="252483"/>
                      <a:pt x="2509929" y="253847"/>
                      <a:pt x="2506495" y="253847"/>
                    </a:cubicBezTo>
                    <a:lnTo>
                      <a:pt x="12949" y="253847"/>
                    </a:lnTo>
                    <a:cubicBezTo>
                      <a:pt x="9515" y="253847"/>
                      <a:pt x="6221" y="252483"/>
                      <a:pt x="3793" y="250054"/>
                    </a:cubicBezTo>
                    <a:cubicBezTo>
                      <a:pt x="1364" y="247626"/>
                      <a:pt x="0" y="244332"/>
                      <a:pt x="0" y="240898"/>
                    </a:cubicBezTo>
                    <a:lnTo>
                      <a:pt x="0" y="12949"/>
                    </a:lnTo>
                    <a:cubicBezTo>
                      <a:pt x="0" y="9515"/>
                      <a:pt x="1364" y="6221"/>
                      <a:pt x="3793" y="3793"/>
                    </a:cubicBezTo>
                    <a:cubicBezTo>
                      <a:pt x="6221" y="1364"/>
                      <a:pt x="9515" y="0"/>
                      <a:pt x="12949" y="0"/>
                    </a:cubicBezTo>
                    <a:close/>
                  </a:path>
                </a:pathLst>
              </a:custGeom>
              <a:solidFill>
                <a:srgbClr val="02337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2519444" cy="3109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25201" y="256988"/>
              <a:ext cx="11288680" cy="64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24"/>
                </a:lnSpc>
                <a:spcBef>
                  <a:spcPct val="0"/>
                </a:spcBef>
              </a:pPr>
              <a:r>
                <a:rPr lang="en-US" sz="2874">
                  <a:solidFill>
                    <a:srgbClr val="FFFFFF"/>
                  </a:solidFill>
                  <a:latin typeface="Batangas"/>
                  <a:ea typeface="Batangas"/>
                  <a:cs typeface="Batangas"/>
                  <a:sym typeface="Batangas"/>
                </a:rPr>
                <a:t>METODOLOGÍA ÁGIL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7110" y="2494019"/>
            <a:ext cx="5454060" cy="884286"/>
            <a:chOff x="0" y="0"/>
            <a:chExt cx="7272080" cy="117904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272080" cy="1179048"/>
              <a:chOff x="0" y="0"/>
              <a:chExt cx="1509307" cy="24470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509307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1509307">
                    <a:moveTo>
                      <a:pt x="21615" y="0"/>
                    </a:moveTo>
                    <a:lnTo>
                      <a:pt x="1487691" y="0"/>
                    </a:lnTo>
                    <a:cubicBezTo>
                      <a:pt x="1493424" y="0"/>
                      <a:pt x="1498922" y="2277"/>
                      <a:pt x="1502976" y="6331"/>
                    </a:cubicBezTo>
                    <a:cubicBezTo>
                      <a:pt x="1507029" y="10385"/>
                      <a:pt x="1509307" y="15883"/>
                      <a:pt x="1509307" y="21615"/>
                    </a:cubicBezTo>
                    <a:lnTo>
                      <a:pt x="1509307" y="223094"/>
                    </a:lnTo>
                    <a:cubicBezTo>
                      <a:pt x="1509307" y="228827"/>
                      <a:pt x="1507029" y="234325"/>
                      <a:pt x="1502976" y="238378"/>
                    </a:cubicBezTo>
                    <a:cubicBezTo>
                      <a:pt x="1498922" y="242432"/>
                      <a:pt x="1493424" y="244709"/>
                      <a:pt x="1487691" y="244709"/>
                    </a:cubicBezTo>
                    <a:lnTo>
                      <a:pt x="21615" y="244709"/>
                    </a:lnTo>
                    <a:cubicBezTo>
                      <a:pt x="15883" y="244709"/>
                      <a:pt x="10385" y="242432"/>
                      <a:pt x="6331" y="238378"/>
                    </a:cubicBezTo>
                    <a:cubicBezTo>
                      <a:pt x="2277" y="234325"/>
                      <a:pt x="0" y="228827"/>
                      <a:pt x="0" y="223094"/>
                    </a:cubicBezTo>
                    <a:lnTo>
                      <a:pt x="0" y="21615"/>
                    </a:lnTo>
                    <a:cubicBezTo>
                      <a:pt x="0" y="15883"/>
                      <a:pt x="2277" y="10385"/>
                      <a:pt x="6331" y="6331"/>
                    </a:cubicBezTo>
                    <a:cubicBezTo>
                      <a:pt x="10385" y="2277"/>
                      <a:pt x="15883" y="0"/>
                      <a:pt x="21615" y="0"/>
                    </a:cubicBezTo>
                    <a:close/>
                  </a:path>
                </a:pathLst>
              </a:custGeom>
              <a:solidFill>
                <a:srgbClr val="3C72F8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1509307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54723" y="276038"/>
              <a:ext cx="676263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Kanban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25438" y="2464084"/>
            <a:ext cx="9460813" cy="884286"/>
            <a:chOff x="0" y="0"/>
            <a:chExt cx="12614418" cy="117904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614418" cy="1179048"/>
              <a:chOff x="0" y="0"/>
              <a:chExt cx="2618099" cy="24470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618099" cy="244709"/>
              </a:xfrm>
              <a:custGeom>
                <a:avLst/>
                <a:gdLst/>
                <a:ahLst/>
                <a:cxnLst/>
                <a:rect r="r" b="b" t="t" l="l"/>
                <a:pathLst>
                  <a:path h="244709" w="2618099">
                    <a:moveTo>
                      <a:pt x="12461" y="0"/>
                    </a:moveTo>
                    <a:lnTo>
                      <a:pt x="2605638" y="0"/>
                    </a:lnTo>
                    <a:cubicBezTo>
                      <a:pt x="2608942" y="0"/>
                      <a:pt x="2612112" y="1313"/>
                      <a:pt x="2614449" y="3650"/>
                    </a:cubicBezTo>
                    <a:cubicBezTo>
                      <a:pt x="2616786" y="5987"/>
                      <a:pt x="2618099" y="9156"/>
                      <a:pt x="2618099" y="12461"/>
                    </a:cubicBezTo>
                    <a:lnTo>
                      <a:pt x="2618099" y="232248"/>
                    </a:lnTo>
                    <a:cubicBezTo>
                      <a:pt x="2618099" y="235553"/>
                      <a:pt x="2616786" y="238723"/>
                      <a:pt x="2614449" y="241060"/>
                    </a:cubicBezTo>
                    <a:cubicBezTo>
                      <a:pt x="2612112" y="243396"/>
                      <a:pt x="2608942" y="244709"/>
                      <a:pt x="2605638" y="244709"/>
                    </a:cubicBezTo>
                    <a:lnTo>
                      <a:pt x="12461" y="244709"/>
                    </a:lnTo>
                    <a:cubicBezTo>
                      <a:pt x="5579" y="244709"/>
                      <a:pt x="0" y="239130"/>
                      <a:pt x="0" y="232248"/>
                    </a:cubicBezTo>
                    <a:lnTo>
                      <a:pt x="0" y="12461"/>
                    </a:lnTo>
                    <a:cubicBezTo>
                      <a:pt x="0" y="9156"/>
                      <a:pt x="1313" y="5987"/>
                      <a:pt x="3650" y="3650"/>
                    </a:cubicBezTo>
                    <a:cubicBezTo>
                      <a:pt x="5987" y="1313"/>
                      <a:pt x="9156" y="0"/>
                      <a:pt x="12461" y="0"/>
                    </a:cubicBezTo>
                    <a:close/>
                  </a:path>
                </a:pathLst>
              </a:custGeom>
              <a:solidFill>
                <a:srgbClr val="3C72F8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2618099" cy="301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3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41851" y="276038"/>
              <a:ext cx="11730715" cy="579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44"/>
                </a:lnSpc>
                <a:spcBef>
                  <a:spcPct val="0"/>
                </a:spcBef>
              </a:pPr>
              <a:r>
                <a:rPr lang="en-US" b="true" sz="2674" strike="noStrike" u="none">
                  <a:solidFill>
                    <a:srgbClr val="FFFFFF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Desarrollo Incremental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7110" y="3625955"/>
            <a:ext cx="5454060" cy="1517545"/>
            <a:chOff x="0" y="0"/>
            <a:chExt cx="1084340" cy="3017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4340" cy="301708"/>
            </a:xfrm>
            <a:custGeom>
              <a:avLst/>
              <a:gdLst/>
              <a:ahLst/>
              <a:cxnLst/>
              <a:rect r="r" b="b" t="t" l="l"/>
              <a:pathLst>
                <a:path h="301708" w="1084340">
                  <a:moveTo>
                    <a:pt x="55360" y="0"/>
                  </a:moveTo>
                  <a:lnTo>
                    <a:pt x="1028980" y="0"/>
                  </a:lnTo>
                  <a:cubicBezTo>
                    <a:pt x="1043662" y="0"/>
                    <a:pt x="1057743" y="5833"/>
                    <a:pt x="1068125" y="16214"/>
                  </a:cubicBezTo>
                  <a:cubicBezTo>
                    <a:pt x="1078507" y="26596"/>
                    <a:pt x="1084340" y="40677"/>
                    <a:pt x="1084340" y="55360"/>
                  </a:cubicBezTo>
                  <a:lnTo>
                    <a:pt x="1084340" y="246348"/>
                  </a:lnTo>
                  <a:cubicBezTo>
                    <a:pt x="1084340" y="261031"/>
                    <a:pt x="1078507" y="275112"/>
                    <a:pt x="1068125" y="285494"/>
                  </a:cubicBezTo>
                  <a:cubicBezTo>
                    <a:pt x="1057743" y="295876"/>
                    <a:pt x="1043662" y="301708"/>
                    <a:pt x="1028980" y="301708"/>
                  </a:cubicBezTo>
                  <a:lnTo>
                    <a:pt x="55360" y="301708"/>
                  </a:lnTo>
                  <a:cubicBezTo>
                    <a:pt x="24785" y="301708"/>
                    <a:pt x="0" y="276923"/>
                    <a:pt x="0" y="246348"/>
                  </a:cubicBezTo>
                  <a:lnTo>
                    <a:pt x="0" y="55360"/>
                  </a:lnTo>
                  <a:cubicBezTo>
                    <a:pt x="0" y="24785"/>
                    <a:pt x="24785" y="0"/>
                    <a:pt x="55360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84340" cy="3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35191" y="5838825"/>
            <a:ext cx="6397226" cy="3331035"/>
            <a:chOff x="0" y="0"/>
            <a:chExt cx="1084340" cy="5646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4340" cy="564615"/>
            </a:xfrm>
            <a:custGeom>
              <a:avLst/>
              <a:gdLst/>
              <a:ahLst/>
              <a:cxnLst/>
              <a:rect r="r" b="b" t="t" l="l"/>
              <a:pathLst>
                <a:path h="564615" w="1084340">
                  <a:moveTo>
                    <a:pt x="47198" y="0"/>
                  </a:moveTo>
                  <a:lnTo>
                    <a:pt x="1037142" y="0"/>
                  </a:lnTo>
                  <a:cubicBezTo>
                    <a:pt x="1049659" y="0"/>
                    <a:pt x="1061664" y="4973"/>
                    <a:pt x="1070516" y="13824"/>
                  </a:cubicBezTo>
                  <a:cubicBezTo>
                    <a:pt x="1079367" y="22675"/>
                    <a:pt x="1084340" y="34680"/>
                    <a:pt x="1084340" y="47198"/>
                  </a:cubicBezTo>
                  <a:lnTo>
                    <a:pt x="1084340" y="517418"/>
                  </a:lnTo>
                  <a:cubicBezTo>
                    <a:pt x="1084340" y="529935"/>
                    <a:pt x="1079367" y="541940"/>
                    <a:pt x="1070516" y="550792"/>
                  </a:cubicBezTo>
                  <a:cubicBezTo>
                    <a:pt x="1061664" y="559643"/>
                    <a:pt x="1049659" y="564615"/>
                    <a:pt x="1037142" y="564615"/>
                  </a:cubicBezTo>
                  <a:lnTo>
                    <a:pt x="47198" y="564615"/>
                  </a:lnTo>
                  <a:cubicBezTo>
                    <a:pt x="34680" y="564615"/>
                    <a:pt x="22675" y="559643"/>
                    <a:pt x="13824" y="550792"/>
                  </a:cubicBezTo>
                  <a:cubicBezTo>
                    <a:pt x="4973" y="541940"/>
                    <a:pt x="0" y="529935"/>
                    <a:pt x="0" y="517418"/>
                  </a:cubicBezTo>
                  <a:lnTo>
                    <a:pt x="0" y="47198"/>
                  </a:lnTo>
                  <a:cubicBezTo>
                    <a:pt x="0" y="34680"/>
                    <a:pt x="4973" y="22675"/>
                    <a:pt x="13824" y="13824"/>
                  </a:cubicBezTo>
                  <a:cubicBezTo>
                    <a:pt x="22675" y="4973"/>
                    <a:pt x="34680" y="0"/>
                    <a:pt x="47198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84340" cy="621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701541" y="3625955"/>
            <a:ext cx="9284710" cy="1517545"/>
            <a:chOff x="0" y="0"/>
            <a:chExt cx="1845924" cy="3017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45924" cy="301708"/>
            </a:xfrm>
            <a:custGeom>
              <a:avLst/>
              <a:gdLst/>
              <a:ahLst/>
              <a:cxnLst/>
              <a:rect r="r" b="b" t="t" l="l"/>
              <a:pathLst>
                <a:path h="301708" w="1845924">
                  <a:moveTo>
                    <a:pt x="32520" y="0"/>
                  </a:moveTo>
                  <a:lnTo>
                    <a:pt x="1813404" y="0"/>
                  </a:lnTo>
                  <a:cubicBezTo>
                    <a:pt x="1822029" y="0"/>
                    <a:pt x="1830300" y="3426"/>
                    <a:pt x="1836399" y="9525"/>
                  </a:cubicBezTo>
                  <a:cubicBezTo>
                    <a:pt x="1842498" y="15623"/>
                    <a:pt x="1845924" y="23895"/>
                    <a:pt x="1845924" y="32520"/>
                  </a:cubicBezTo>
                  <a:lnTo>
                    <a:pt x="1845924" y="269189"/>
                  </a:lnTo>
                  <a:cubicBezTo>
                    <a:pt x="1845924" y="277813"/>
                    <a:pt x="1842498" y="286085"/>
                    <a:pt x="1836399" y="292183"/>
                  </a:cubicBezTo>
                  <a:cubicBezTo>
                    <a:pt x="1830300" y="298282"/>
                    <a:pt x="1822029" y="301708"/>
                    <a:pt x="1813404" y="301708"/>
                  </a:cubicBezTo>
                  <a:lnTo>
                    <a:pt x="32520" y="301708"/>
                  </a:lnTo>
                  <a:cubicBezTo>
                    <a:pt x="23895" y="301708"/>
                    <a:pt x="15623" y="298282"/>
                    <a:pt x="9525" y="292183"/>
                  </a:cubicBezTo>
                  <a:cubicBezTo>
                    <a:pt x="3426" y="286085"/>
                    <a:pt x="0" y="277813"/>
                    <a:pt x="0" y="269189"/>
                  </a:cubicBezTo>
                  <a:lnTo>
                    <a:pt x="0" y="32520"/>
                  </a:lnTo>
                  <a:cubicBezTo>
                    <a:pt x="0" y="23895"/>
                    <a:pt x="3426" y="15623"/>
                    <a:pt x="9525" y="9525"/>
                  </a:cubicBezTo>
                  <a:cubicBezTo>
                    <a:pt x="15623" y="3426"/>
                    <a:pt x="23895" y="0"/>
                    <a:pt x="32520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845924" cy="35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47110" y="6060811"/>
            <a:ext cx="3007357" cy="2887063"/>
          </a:xfrm>
          <a:custGeom>
            <a:avLst/>
            <a:gdLst/>
            <a:ahLst/>
            <a:cxnLst/>
            <a:rect r="r" b="b" t="t" l="l"/>
            <a:pathLst>
              <a:path h="2887063" w="3007357">
                <a:moveTo>
                  <a:pt x="0" y="0"/>
                </a:moveTo>
                <a:lnTo>
                  <a:pt x="3007357" y="0"/>
                </a:lnTo>
                <a:lnTo>
                  <a:pt x="3007357" y="2887063"/>
                </a:lnTo>
                <a:lnTo>
                  <a:pt x="0" y="2887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854866" y="6515100"/>
            <a:ext cx="4075778" cy="1813721"/>
          </a:xfrm>
          <a:custGeom>
            <a:avLst/>
            <a:gdLst/>
            <a:ahLst/>
            <a:cxnLst/>
            <a:rect r="r" b="b" t="t" l="l"/>
            <a:pathLst>
              <a:path h="1813721" w="4075778">
                <a:moveTo>
                  <a:pt x="0" y="0"/>
                </a:moveTo>
                <a:lnTo>
                  <a:pt x="4075778" y="0"/>
                </a:lnTo>
                <a:lnTo>
                  <a:pt x="4075778" y="1813721"/>
                </a:lnTo>
                <a:lnTo>
                  <a:pt x="0" y="181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460653" y="460687"/>
            <a:ext cx="13346301" cy="71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1"/>
              </a:lnSpc>
              <a:spcBef>
                <a:spcPct val="0"/>
              </a:spcBef>
            </a:pPr>
            <a:r>
              <a:rPr lang="en-US" b="true" sz="57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M</a:t>
            </a:r>
            <a:r>
              <a:rPr lang="en-US" b="true" sz="5700" strike="noStrike" u="none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etodología de trabajo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27206" y="3695753"/>
            <a:ext cx="4493868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2" indent="-313051" lvl="1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Gestión y seguimiento de tareas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98310" y="6007559"/>
            <a:ext cx="5270988" cy="2841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374" indent="-367187" lvl="1">
              <a:lnSpc>
                <a:spcPts val="5782"/>
              </a:lnSpc>
              <a:buFont typeface="Arial"/>
              <a:buChar char="•"/>
            </a:pPr>
            <a:r>
              <a:rPr lang="en-US" sz="3401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Pendien</a:t>
            </a:r>
            <a:r>
              <a:rPr lang="en-US" sz="3401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te</a:t>
            </a:r>
          </a:p>
          <a:p>
            <a:pPr algn="l" marL="734374" indent="-367187" lvl="1">
              <a:lnSpc>
                <a:spcPts val="5782"/>
              </a:lnSpc>
              <a:buFont typeface="Arial"/>
              <a:buChar char="•"/>
            </a:pPr>
            <a:r>
              <a:rPr lang="en-US" sz="3401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En desarrollo</a:t>
            </a:r>
          </a:p>
          <a:p>
            <a:pPr algn="l" marL="734374" indent="-367187" lvl="1">
              <a:lnSpc>
                <a:spcPts val="5782"/>
              </a:lnSpc>
              <a:buFont typeface="Arial"/>
              <a:buChar char="•"/>
            </a:pPr>
            <a:r>
              <a:rPr lang="en-US" sz="3401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En revisión</a:t>
            </a:r>
          </a:p>
          <a:p>
            <a:pPr algn="l" marL="734374" indent="-367187" lvl="1">
              <a:lnSpc>
                <a:spcPts val="5782"/>
              </a:lnSpc>
              <a:buFont typeface="Arial"/>
              <a:buChar char="•"/>
            </a:pPr>
            <a:r>
              <a:rPr lang="en-US" sz="3401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Terminado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56826" y="3881988"/>
            <a:ext cx="8456028" cy="65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0" indent="-356230" lvl="1">
              <a:lnSpc>
                <a:spcPts val="5609"/>
              </a:lnSpc>
              <a:buFont typeface="Arial"/>
              <a:buChar char="•"/>
            </a:pPr>
            <a:r>
              <a:rPr lang="en-US" sz="32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Construcción progresiva del sistema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7022" y="1635503"/>
            <a:ext cx="1171430" cy="1452226"/>
          </a:xfrm>
          <a:custGeom>
            <a:avLst/>
            <a:gdLst/>
            <a:ahLst/>
            <a:cxnLst/>
            <a:rect r="r" b="b" t="t" l="l"/>
            <a:pathLst>
              <a:path h="1452226" w="1171430">
                <a:moveTo>
                  <a:pt x="0" y="0"/>
                </a:moveTo>
                <a:lnTo>
                  <a:pt x="1171430" y="0"/>
                </a:lnTo>
                <a:lnTo>
                  <a:pt x="1171430" y="1452226"/>
                </a:lnTo>
                <a:lnTo>
                  <a:pt x="0" y="1452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0340" r="-592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5765" y="3864456"/>
            <a:ext cx="1202626" cy="1406580"/>
          </a:xfrm>
          <a:custGeom>
            <a:avLst/>
            <a:gdLst/>
            <a:ahLst/>
            <a:cxnLst/>
            <a:rect r="r" b="b" t="t" l="l"/>
            <a:pathLst>
              <a:path h="1406580" w="1202626">
                <a:moveTo>
                  <a:pt x="0" y="0"/>
                </a:moveTo>
                <a:lnTo>
                  <a:pt x="1202626" y="0"/>
                </a:lnTo>
                <a:lnTo>
                  <a:pt x="1202626" y="1406581"/>
                </a:lnTo>
                <a:lnTo>
                  <a:pt x="0" y="1406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7968" y="6069670"/>
            <a:ext cx="1249314" cy="1383633"/>
          </a:xfrm>
          <a:custGeom>
            <a:avLst/>
            <a:gdLst/>
            <a:ahLst/>
            <a:cxnLst/>
            <a:rect r="r" b="b" t="t" l="l"/>
            <a:pathLst>
              <a:path h="1383633" w="1249314">
                <a:moveTo>
                  <a:pt x="0" y="0"/>
                </a:moveTo>
                <a:lnTo>
                  <a:pt x="1249314" y="0"/>
                </a:lnTo>
                <a:lnTo>
                  <a:pt x="1249314" y="1383633"/>
                </a:lnTo>
                <a:lnTo>
                  <a:pt x="0" y="1383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081" t="-10148" r="-19059" b="-1367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7022" y="8193598"/>
            <a:ext cx="1204389" cy="1323504"/>
          </a:xfrm>
          <a:custGeom>
            <a:avLst/>
            <a:gdLst/>
            <a:ahLst/>
            <a:cxnLst/>
            <a:rect r="r" b="b" t="t" l="l"/>
            <a:pathLst>
              <a:path h="1323504" w="1204389">
                <a:moveTo>
                  <a:pt x="0" y="0"/>
                </a:moveTo>
                <a:lnTo>
                  <a:pt x="1204389" y="0"/>
                </a:lnTo>
                <a:lnTo>
                  <a:pt x="1204389" y="1323504"/>
                </a:lnTo>
                <a:lnTo>
                  <a:pt x="0" y="1323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06480" y="1460116"/>
            <a:ext cx="1921000" cy="1441859"/>
          </a:xfrm>
          <a:custGeom>
            <a:avLst/>
            <a:gdLst/>
            <a:ahLst/>
            <a:cxnLst/>
            <a:rect r="r" b="b" t="t" l="l"/>
            <a:pathLst>
              <a:path h="1441859" w="1921000">
                <a:moveTo>
                  <a:pt x="0" y="0"/>
                </a:moveTo>
                <a:lnTo>
                  <a:pt x="1921000" y="0"/>
                </a:lnTo>
                <a:lnTo>
                  <a:pt x="1921000" y="1441858"/>
                </a:lnTo>
                <a:lnTo>
                  <a:pt x="0" y="14418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27394" y="3587774"/>
            <a:ext cx="1524449" cy="1524449"/>
          </a:xfrm>
          <a:custGeom>
            <a:avLst/>
            <a:gdLst/>
            <a:ahLst/>
            <a:cxnLst/>
            <a:rect r="r" b="b" t="t" l="l"/>
            <a:pathLst>
              <a:path h="1524449" w="1524449">
                <a:moveTo>
                  <a:pt x="0" y="0"/>
                </a:moveTo>
                <a:lnTo>
                  <a:pt x="1524449" y="0"/>
                </a:lnTo>
                <a:lnTo>
                  <a:pt x="1524449" y="1524449"/>
                </a:lnTo>
                <a:lnTo>
                  <a:pt x="0" y="15244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32582" y="5871071"/>
            <a:ext cx="1524449" cy="1524449"/>
          </a:xfrm>
          <a:custGeom>
            <a:avLst/>
            <a:gdLst/>
            <a:ahLst/>
            <a:cxnLst/>
            <a:rect r="r" b="b" t="t" l="l"/>
            <a:pathLst>
              <a:path h="1524449" w="1524449">
                <a:moveTo>
                  <a:pt x="0" y="0"/>
                </a:moveTo>
                <a:lnTo>
                  <a:pt x="1524449" y="0"/>
                </a:lnTo>
                <a:lnTo>
                  <a:pt x="1524449" y="1524448"/>
                </a:lnTo>
                <a:lnTo>
                  <a:pt x="0" y="15244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32582" y="8081319"/>
            <a:ext cx="1662740" cy="1662740"/>
          </a:xfrm>
          <a:custGeom>
            <a:avLst/>
            <a:gdLst/>
            <a:ahLst/>
            <a:cxnLst/>
            <a:rect r="r" b="b" t="t" l="l"/>
            <a:pathLst>
              <a:path h="1662740" w="1662740">
                <a:moveTo>
                  <a:pt x="0" y="0"/>
                </a:moveTo>
                <a:lnTo>
                  <a:pt x="1662740" y="0"/>
                </a:lnTo>
                <a:lnTo>
                  <a:pt x="1662740" y="1662740"/>
                </a:lnTo>
                <a:lnTo>
                  <a:pt x="0" y="16627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89870" y="2200321"/>
            <a:ext cx="1624419" cy="1624419"/>
          </a:xfrm>
          <a:custGeom>
            <a:avLst/>
            <a:gdLst/>
            <a:ahLst/>
            <a:cxnLst/>
            <a:rect r="r" b="b" t="t" l="l"/>
            <a:pathLst>
              <a:path h="1624419" w="1624419">
                <a:moveTo>
                  <a:pt x="0" y="0"/>
                </a:moveTo>
                <a:lnTo>
                  <a:pt x="1624419" y="0"/>
                </a:lnTo>
                <a:lnTo>
                  <a:pt x="1624419" y="1624418"/>
                </a:lnTo>
                <a:lnTo>
                  <a:pt x="0" y="16244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72708" y="4821742"/>
            <a:ext cx="1258742" cy="1748253"/>
          </a:xfrm>
          <a:custGeom>
            <a:avLst/>
            <a:gdLst/>
            <a:ahLst/>
            <a:cxnLst/>
            <a:rect r="r" b="b" t="t" l="l"/>
            <a:pathLst>
              <a:path h="1748253" w="1258742">
                <a:moveTo>
                  <a:pt x="0" y="0"/>
                </a:moveTo>
                <a:lnTo>
                  <a:pt x="1258743" y="0"/>
                </a:lnTo>
                <a:lnTo>
                  <a:pt x="1258743" y="1748253"/>
                </a:lnTo>
                <a:lnTo>
                  <a:pt x="0" y="1748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72708" y="7398670"/>
            <a:ext cx="1275296" cy="1746980"/>
          </a:xfrm>
          <a:custGeom>
            <a:avLst/>
            <a:gdLst/>
            <a:ahLst/>
            <a:cxnLst/>
            <a:rect r="r" b="b" t="t" l="l"/>
            <a:pathLst>
              <a:path h="1746980" w="1275296">
                <a:moveTo>
                  <a:pt x="0" y="0"/>
                </a:moveTo>
                <a:lnTo>
                  <a:pt x="1275296" y="0"/>
                </a:lnTo>
                <a:lnTo>
                  <a:pt x="1275296" y="1746981"/>
                </a:lnTo>
                <a:lnTo>
                  <a:pt x="0" y="174698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70850" y="309308"/>
            <a:ext cx="13346301" cy="71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1"/>
              </a:lnSpc>
              <a:spcBef>
                <a:spcPct val="0"/>
              </a:spcBef>
            </a:pPr>
            <a:r>
              <a:rPr lang="en-US" b="true" sz="5700" strike="noStrike" u="none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Herramientas de trabajo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62484" y="1839790"/>
            <a:ext cx="3308721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Estructura de la aplicación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7661" y="4013506"/>
            <a:ext cx="2716147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Diseño responsive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87661" y="6254246"/>
            <a:ext cx="2858365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Funcionalidades de la interfaz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16553" y="8803821"/>
            <a:ext cx="2858365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56080" y="1704997"/>
            <a:ext cx="2929474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Desarrollo de API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99362" y="3915246"/>
            <a:ext cx="2265792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Base de datos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23756" y="6198542"/>
            <a:ext cx="3237341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Ingesta, análisis y Machine Learning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23756" y="8547082"/>
            <a:ext cx="3758806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Repositorio y control de versiones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75972" y="2615632"/>
            <a:ext cx="2573930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Tablero Kanban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53500" y="5591715"/>
            <a:ext cx="2573930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Mockups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62720" y="7948674"/>
            <a:ext cx="3360479" cy="1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sz="2899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Integración inicial con DimaSoft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16553" y="1275139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F16428"/>
                </a:solidFill>
                <a:latin typeface="Bogart Bold"/>
                <a:ea typeface="Bogart Bold"/>
                <a:cs typeface="Bogart Bold"/>
                <a:sym typeface="Bogart Bold"/>
              </a:rPr>
              <a:t>HTML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91375" y="3452245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1172B8"/>
                </a:solidFill>
                <a:latin typeface="Bogart Bold"/>
                <a:ea typeface="Bogart Bold"/>
                <a:cs typeface="Bogart Bold"/>
                <a:sym typeface="Bogart Bold"/>
              </a:rPr>
              <a:t>CSS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62484" y="5709306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D3B62A"/>
                </a:solidFill>
                <a:latin typeface="Bogart Bold"/>
                <a:ea typeface="Bogart Bold"/>
                <a:cs typeface="Bogart Bold"/>
                <a:sym typeface="Bogart Bold"/>
              </a:rPr>
              <a:t>JavaScript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62484" y="8258236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8DCA4B"/>
                </a:solidFill>
                <a:latin typeface="Bogart Bold"/>
                <a:ea typeface="Bogart Bold"/>
                <a:cs typeface="Bogart Bold"/>
                <a:sym typeface="Bogart Bold"/>
              </a:rPr>
              <a:t>Node.js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88066" y="1270020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D3B62A"/>
                </a:solidFill>
                <a:latin typeface="Bogart Bold"/>
                <a:ea typeface="Bogart Bold"/>
                <a:cs typeface="Bogart Bold"/>
                <a:sym typeface="Bogart Bold"/>
              </a:rPr>
              <a:t>Express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352376" y="3366115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336791"/>
                </a:solidFill>
                <a:latin typeface="Bogart Bold"/>
                <a:ea typeface="Bogart Bold"/>
                <a:cs typeface="Bogart Bold"/>
                <a:sym typeface="Bogart Bold"/>
              </a:rPr>
              <a:t>PostgreSQL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352376" y="5721009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2271B1"/>
                </a:solidFill>
                <a:latin typeface="Bogart Bold"/>
                <a:ea typeface="Bogart Bold"/>
                <a:cs typeface="Bogart Bold"/>
                <a:sym typeface="Bogart Bold"/>
              </a:rPr>
              <a:t>Python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66457" y="8005119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GitHub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86104" y="2057446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2271B1"/>
                </a:solidFill>
                <a:latin typeface="Bogart Bold"/>
                <a:ea typeface="Bogart Bold"/>
                <a:cs typeface="Bogart Bold"/>
                <a:sym typeface="Bogart Bold"/>
              </a:rPr>
              <a:t>Trello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86104" y="5000625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Figma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14478" y="7360192"/>
            <a:ext cx="3308721" cy="57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9"/>
              </a:lnSpc>
            </a:pPr>
            <a:r>
              <a:rPr lang="en-US" b="true" sz="2899">
                <a:solidFill>
                  <a:srgbClr val="165C36"/>
                </a:solidFill>
                <a:latin typeface="Bogart Bold"/>
                <a:ea typeface="Bogart Bold"/>
                <a:cs typeface="Bogart Bold"/>
                <a:sym typeface="Bogart Bold"/>
              </a:rPr>
              <a:t>Excel / CSV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619" y="725405"/>
            <a:ext cx="11719722" cy="9263707"/>
          </a:xfrm>
          <a:custGeom>
            <a:avLst/>
            <a:gdLst/>
            <a:ahLst/>
            <a:cxnLst/>
            <a:rect r="r" b="b" t="t" l="l"/>
            <a:pathLst>
              <a:path h="9263707" w="11719722">
                <a:moveTo>
                  <a:pt x="0" y="0"/>
                </a:moveTo>
                <a:lnTo>
                  <a:pt x="11719722" y="0"/>
                </a:lnTo>
                <a:lnTo>
                  <a:pt x="11719722" y="9263707"/>
                </a:lnTo>
                <a:lnTo>
                  <a:pt x="0" y="9263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62689" y="8023330"/>
            <a:ext cx="5195756" cy="1417024"/>
          </a:xfrm>
          <a:custGeom>
            <a:avLst/>
            <a:gdLst/>
            <a:ahLst/>
            <a:cxnLst/>
            <a:rect r="r" b="b" t="t" l="l"/>
            <a:pathLst>
              <a:path h="1417024" w="5195756">
                <a:moveTo>
                  <a:pt x="0" y="0"/>
                </a:moveTo>
                <a:lnTo>
                  <a:pt x="5195756" y="0"/>
                </a:lnTo>
                <a:lnTo>
                  <a:pt x="5195756" y="1417024"/>
                </a:lnTo>
                <a:lnTo>
                  <a:pt x="0" y="1417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09633" y="2030204"/>
            <a:ext cx="6478367" cy="3655574"/>
          </a:xfrm>
          <a:custGeom>
            <a:avLst/>
            <a:gdLst/>
            <a:ahLst/>
            <a:cxnLst/>
            <a:rect r="r" b="b" t="t" l="l"/>
            <a:pathLst>
              <a:path h="3655574" w="6478367">
                <a:moveTo>
                  <a:pt x="0" y="0"/>
                </a:moveTo>
                <a:lnTo>
                  <a:pt x="6478367" y="0"/>
                </a:lnTo>
                <a:lnTo>
                  <a:pt x="6478367" y="3655574"/>
                </a:lnTo>
                <a:lnTo>
                  <a:pt x="0" y="3655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39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12861" y="205326"/>
            <a:ext cx="1824942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0"/>
              </a:lnSpc>
              <a:spcBef>
                <a:spcPct val="0"/>
              </a:spcBef>
            </a:pPr>
            <a:r>
              <a:rPr lang="en-US" b="true" sz="50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Matriz RACI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84435"/>
            <a:ext cx="8730523" cy="10002565"/>
          </a:xfrm>
          <a:custGeom>
            <a:avLst/>
            <a:gdLst/>
            <a:ahLst/>
            <a:cxnLst/>
            <a:rect r="r" b="b" t="t" l="l"/>
            <a:pathLst>
              <a:path h="10002565" w="8730523">
                <a:moveTo>
                  <a:pt x="0" y="0"/>
                </a:moveTo>
                <a:lnTo>
                  <a:pt x="8730523" y="0"/>
                </a:lnTo>
                <a:lnTo>
                  <a:pt x="8730523" y="10002565"/>
                </a:lnTo>
                <a:lnTo>
                  <a:pt x="0" y="10002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43" r="0" b="-6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0181" y="261937"/>
            <a:ext cx="162306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0"/>
              </a:lnSpc>
              <a:spcBef>
                <a:spcPct val="0"/>
              </a:spcBef>
            </a:pPr>
            <a:r>
              <a:rPr lang="en-US" b="true" sz="50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Esquema preliminar de la base de datos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089164" y="1771267"/>
            <a:ext cx="6558962" cy="7023253"/>
            <a:chOff x="0" y="0"/>
            <a:chExt cx="1185151" cy="1269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5151" cy="1269045"/>
            </a:xfrm>
            <a:custGeom>
              <a:avLst/>
              <a:gdLst/>
              <a:ahLst/>
              <a:cxnLst/>
              <a:rect r="r" b="b" t="t" l="l"/>
              <a:pathLst>
                <a:path h="1269045" w="1185151">
                  <a:moveTo>
                    <a:pt x="46034" y="0"/>
                  </a:moveTo>
                  <a:lnTo>
                    <a:pt x="1139117" y="0"/>
                  </a:lnTo>
                  <a:cubicBezTo>
                    <a:pt x="1151326" y="0"/>
                    <a:pt x="1163035" y="4850"/>
                    <a:pt x="1171668" y="13483"/>
                  </a:cubicBezTo>
                  <a:cubicBezTo>
                    <a:pt x="1180301" y="22116"/>
                    <a:pt x="1185151" y="33825"/>
                    <a:pt x="1185151" y="46034"/>
                  </a:cubicBezTo>
                  <a:lnTo>
                    <a:pt x="1185151" y="1223011"/>
                  </a:lnTo>
                  <a:cubicBezTo>
                    <a:pt x="1185151" y="1248435"/>
                    <a:pt x="1164541" y="1269045"/>
                    <a:pt x="1139117" y="1269045"/>
                  </a:cubicBezTo>
                  <a:lnTo>
                    <a:pt x="46034" y="1269045"/>
                  </a:lnTo>
                  <a:cubicBezTo>
                    <a:pt x="33825" y="1269045"/>
                    <a:pt x="22116" y="1264195"/>
                    <a:pt x="13483" y="1255562"/>
                  </a:cubicBezTo>
                  <a:cubicBezTo>
                    <a:pt x="4850" y="1246929"/>
                    <a:pt x="0" y="1235220"/>
                    <a:pt x="0" y="1223011"/>
                  </a:cubicBezTo>
                  <a:lnTo>
                    <a:pt x="0" y="46034"/>
                  </a:lnTo>
                  <a:cubicBezTo>
                    <a:pt x="0" y="33825"/>
                    <a:pt x="4850" y="22116"/>
                    <a:pt x="13483" y="13483"/>
                  </a:cubicBezTo>
                  <a:cubicBezTo>
                    <a:pt x="22116" y="4850"/>
                    <a:pt x="33825" y="0"/>
                    <a:pt x="46034" y="0"/>
                  </a:cubicBezTo>
                  <a:close/>
                </a:path>
              </a:pathLst>
            </a:custGeom>
            <a:solidFill>
              <a:srgbClr val="CA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85151" cy="132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564847" y="1990110"/>
            <a:ext cx="5607596" cy="653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100F0D"/>
                </a:solidFill>
                <a:latin typeface="Bogart Bold"/>
                <a:ea typeface="Bogart Bold"/>
                <a:cs typeface="Bogart Bold"/>
                <a:sym typeface="Bogart Bold"/>
              </a:rPr>
              <a:t>Base de datos considera</a:t>
            </a:r>
          </a:p>
          <a:p>
            <a:pPr algn="l">
              <a:lnSpc>
                <a:spcPts val="3990"/>
              </a:lnSpc>
            </a:pP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Usuarios</a:t>
            </a: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Roles</a:t>
            </a:r>
          </a:p>
          <a:p>
            <a:pPr algn="l">
              <a:lnSpc>
                <a:spcPts val="3990"/>
              </a:lnSpc>
            </a:pP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Productos</a:t>
            </a: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Proveedores</a:t>
            </a: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Recomendaciones</a:t>
            </a: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Predicciones</a:t>
            </a: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Vencimientos</a:t>
            </a:r>
          </a:p>
          <a:p>
            <a:pPr algn="l">
              <a:lnSpc>
                <a:spcPts val="3990"/>
              </a:lnSpc>
            </a:pP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Ventas</a:t>
            </a:r>
          </a:p>
          <a:p>
            <a:pPr algn="l" marL="615464" indent="-307732" lvl="1">
              <a:lnSpc>
                <a:spcPts val="3990"/>
              </a:lnSpc>
              <a:buFont typeface="Arial"/>
              <a:buChar char="•"/>
            </a:pPr>
            <a:r>
              <a:rPr lang="en-US" sz="2850">
                <a:solidFill>
                  <a:srgbClr val="100F0D"/>
                </a:solidFill>
                <a:latin typeface="Bogart"/>
                <a:ea typeface="Bogart"/>
                <a:cs typeface="Bogart"/>
                <a:sym typeface="Bogart"/>
              </a:rPr>
              <a:t>Detalle ventas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0921" y="2380833"/>
            <a:ext cx="1350498" cy="7519504"/>
          </a:xfrm>
          <a:custGeom>
            <a:avLst/>
            <a:gdLst/>
            <a:ahLst/>
            <a:cxnLst/>
            <a:rect r="r" b="b" t="t" l="l"/>
            <a:pathLst>
              <a:path h="7519504" w="1350498">
                <a:moveTo>
                  <a:pt x="0" y="0"/>
                </a:moveTo>
                <a:lnTo>
                  <a:pt x="1350498" y="0"/>
                </a:lnTo>
                <a:lnTo>
                  <a:pt x="1350498" y="7519504"/>
                </a:lnTo>
                <a:lnTo>
                  <a:pt x="0" y="7519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2" t="-28680" r="-888025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693480" y="2380833"/>
            <a:ext cx="1132712" cy="7519504"/>
          </a:xfrm>
          <a:custGeom>
            <a:avLst/>
            <a:gdLst/>
            <a:ahLst/>
            <a:cxnLst/>
            <a:rect r="r" b="b" t="t" l="l"/>
            <a:pathLst>
              <a:path h="7519504" w="1132712">
                <a:moveTo>
                  <a:pt x="0" y="0"/>
                </a:moveTo>
                <a:lnTo>
                  <a:pt x="1132712" y="0"/>
                </a:lnTo>
                <a:lnTo>
                  <a:pt x="1132712" y="7519504"/>
                </a:lnTo>
                <a:lnTo>
                  <a:pt x="0" y="7519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58405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771525"/>
            <a:ext cx="1684923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0"/>
              </a:lnSpc>
              <a:spcBef>
                <a:spcPct val="0"/>
              </a:spcBef>
            </a:pPr>
            <a:r>
              <a:rPr lang="en-US" b="true" sz="50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Requisitos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2869" y="1671726"/>
            <a:ext cx="586783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0"/>
              </a:lnSpc>
              <a:spcBef>
                <a:spcPct val="0"/>
              </a:spcBef>
            </a:pPr>
            <a:r>
              <a:rPr lang="en-US" b="true" sz="50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Funcionales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53126" y="1671726"/>
            <a:ext cx="586783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0"/>
              </a:lnSpc>
              <a:spcBef>
                <a:spcPct val="0"/>
              </a:spcBef>
            </a:pPr>
            <a:r>
              <a:rPr lang="en-US" b="true" sz="5000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No Funcionales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11419" y="2380833"/>
            <a:ext cx="7452705" cy="7519504"/>
          </a:xfrm>
          <a:custGeom>
            <a:avLst/>
            <a:gdLst/>
            <a:ahLst/>
            <a:cxnLst/>
            <a:rect r="r" b="b" t="t" l="l"/>
            <a:pathLst>
              <a:path h="7519504" w="7452705">
                <a:moveTo>
                  <a:pt x="0" y="0"/>
                </a:moveTo>
                <a:lnTo>
                  <a:pt x="7452704" y="0"/>
                </a:lnTo>
                <a:lnTo>
                  <a:pt x="7452704" y="7519504"/>
                </a:lnTo>
                <a:lnTo>
                  <a:pt x="0" y="7519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037" t="-28680" r="-34089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826192" y="2380833"/>
            <a:ext cx="7100887" cy="7519504"/>
          </a:xfrm>
          <a:custGeom>
            <a:avLst/>
            <a:gdLst/>
            <a:ahLst/>
            <a:cxnLst/>
            <a:rect r="r" b="b" t="t" l="l"/>
            <a:pathLst>
              <a:path h="7519504" w="7100887">
                <a:moveTo>
                  <a:pt x="0" y="0"/>
                </a:moveTo>
                <a:lnTo>
                  <a:pt x="7100887" y="0"/>
                </a:lnTo>
                <a:lnTo>
                  <a:pt x="7100887" y="7519504"/>
                </a:lnTo>
                <a:lnTo>
                  <a:pt x="0" y="75195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3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76351"/>
            <a:ext cx="6983690" cy="4967149"/>
          </a:xfrm>
          <a:custGeom>
            <a:avLst/>
            <a:gdLst/>
            <a:ahLst/>
            <a:cxnLst/>
            <a:rect r="r" b="b" t="t" l="l"/>
            <a:pathLst>
              <a:path h="4967149" w="6983690">
                <a:moveTo>
                  <a:pt x="0" y="0"/>
                </a:moveTo>
                <a:lnTo>
                  <a:pt x="6983690" y="0"/>
                </a:lnTo>
                <a:lnTo>
                  <a:pt x="6983690" y="4967149"/>
                </a:lnTo>
                <a:lnTo>
                  <a:pt x="0" y="496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7943" y="2659925"/>
            <a:ext cx="6991092" cy="4657468"/>
          </a:xfrm>
          <a:custGeom>
            <a:avLst/>
            <a:gdLst/>
            <a:ahLst/>
            <a:cxnLst/>
            <a:rect r="r" b="b" t="t" l="l"/>
            <a:pathLst>
              <a:path h="4657468" w="6991092">
                <a:moveTo>
                  <a:pt x="0" y="0"/>
                </a:moveTo>
                <a:lnTo>
                  <a:pt x="6991092" y="0"/>
                </a:lnTo>
                <a:lnTo>
                  <a:pt x="6991092" y="4657468"/>
                </a:lnTo>
                <a:lnTo>
                  <a:pt x="0" y="4657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81" r="0" b="-338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5314586"/>
            <a:ext cx="6991092" cy="4972414"/>
          </a:xfrm>
          <a:custGeom>
            <a:avLst/>
            <a:gdLst/>
            <a:ahLst/>
            <a:cxnLst/>
            <a:rect r="r" b="b" t="t" l="l"/>
            <a:pathLst>
              <a:path h="4972414" w="6991092">
                <a:moveTo>
                  <a:pt x="0" y="0"/>
                </a:moveTo>
                <a:lnTo>
                  <a:pt x="6991092" y="0"/>
                </a:lnTo>
                <a:lnTo>
                  <a:pt x="6991092" y="4972414"/>
                </a:lnTo>
                <a:lnTo>
                  <a:pt x="0" y="4972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50852" y="1585490"/>
            <a:ext cx="502657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09"/>
              </a:lnSpc>
              <a:spcBef>
                <a:spcPct val="0"/>
              </a:spcBef>
            </a:pPr>
            <a:r>
              <a:rPr lang="en-US" b="true" sz="6999">
                <a:solidFill>
                  <a:srgbClr val="026EFF"/>
                </a:solidFill>
                <a:latin typeface="Bogart Bold"/>
                <a:ea typeface="Bogart Bold"/>
                <a:cs typeface="Bogart Bold"/>
                <a:sym typeface="Bogart Bold"/>
              </a:rPr>
              <a:t>Mockups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8973" y="107452"/>
            <a:ext cx="6941485" cy="4937132"/>
          </a:xfrm>
          <a:custGeom>
            <a:avLst/>
            <a:gdLst/>
            <a:ahLst/>
            <a:cxnLst/>
            <a:rect r="r" b="b" t="t" l="l"/>
            <a:pathLst>
              <a:path h="4937132" w="6941485">
                <a:moveTo>
                  <a:pt x="0" y="0"/>
                </a:moveTo>
                <a:lnTo>
                  <a:pt x="6941485" y="0"/>
                </a:lnTo>
                <a:lnTo>
                  <a:pt x="6941485" y="4937131"/>
                </a:lnTo>
                <a:lnTo>
                  <a:pt x="0" y="4937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6057" y="5204780"/>
            <a:ext cx="6994401" cy="4974768"/>
          </a:xfrm>
          <a:custGeom>
            <a:avLst/>
            <a:gdLst/>
            <a:ahLst/>
            <a:cxnLst/>
            <a:rect r="r" b="b" t="t" l="l"/>
            <a:pathLst>
              <a:path h="4974768" w="6994401">
                <a:moveTo>
                  <a:pt x="0" y="0"/>
                </a:moveTo>
                <a:lnTo>
                  <a:pt x="6994401" y="0"/>
                </a:lnTo>
                <a:lnTo>
                  <a:pt x="6994401" y="4974768"/>
                </a:lnTo>
                <a:lnTo>
                  <a:pt x="0" y="4974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70458" y="107452"/>
            <a:ext cx="6941485" cy="4937132"/>
          </a:xfrm>
          <a:custGeom>
            <a:avLst/>
            <a:gdLst/>
            <a:ahLst/>
            <a:cxnLst/>
            <a:rect r="r" b="b" t="t" l="l"/>
            <a:pathLst>
              <a:path h="4937132" w="6941485">
                <a:moveTo>
                  <a:pt x="0" y="0"/>
                </a:moveTo>
                <a:lnTo>
                  <a:pt x="6941485" y="0"/>
                </a:lnTo>
                <a:lnTo>
                  <a:pt x="6941485" y="4937131"/>
                </a:lnTo>
                <a:lnTo>
                  <a:pt x="0" y="4937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70458" y="5204780"/>
            <a:ext cx="6941485" cy="4937132"/>
          </a:xfrm>
          <a:custGeom>
            <a:avLst/>
            <a:gdLst/>
            <a:ahLst/>
            <a:cxnLst/>
            <a:rect r="r" b="b" t="t" l="l"/>
            <a:pathLst>
              <a:path h="4937132" w="6941485">
                <a:moveTo>
                  <a:pt x="0" y="0"/>
                </a:moveTo>
                <a:lnTo>
                  <a:pt x="6941485" y="0"/>
                </a:lnTo>
                <a:lnTo>
                  <a:pt x="6941485" y="4937132"/>
                </a:lnTo>
                <a:lnTo>
                  <a:pt x="0" y="49371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53848" y="190541"/>
            <a:ext cx="4526665" cy="9840576"/>
          </a:xfrm>
          <a:custGeom>
            <a:avLst/>
            <a:gdLst/>
            <a:ahLst/>
            <a:cxnLst/>
            <a:rect r="r" b="b" t="t" l="l"/>
            <a:pathLst>
              <a:path h="9840576" w="4526665">
                <a:moveTo>
                  <a:pt x="0" y="0"/>
                </a:moveTo>
                <a:lnTo>
                  <a:pt x="4526665" y="0"/>
                </a:lnTo>
                <a:lnTo>
                  <a:pt x="4526665" y="9840576"/>
                </a:lnTo>
                <a:lnTo>
                  <a:pt x="0" y="9840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46865" y="190541"/>
            <a:ext cx="4526665" cy="9840576"/>
          </a:xfrm>
          <a:custGeom>
            <a:avLst/>
            <a:gdLst/>
            <a:ahLst/>
            <a:cxnLst/>
            <a:rect r="r" b="b" t="t" l="l"/>
            <a:pathLst>
              <a:path h="9840576" w="4526665">
                <a:moveTo>
                  <a:pt x="0" y="0"/>
                </a:moveTo>
                <a:lnTo>
                  <a:pt x="4526665" y="0"/>
                </a:lnTo>
                <a:lnTo>
                  <a:pt x="4526665" y="9840576"/>
                </a:lnTo>
                <a:lnTo>
                  <a:pt x="0" y="9840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1006" y="190541"/>
            <a:ext cx="4526665" cy="9840576"/>
          </a:xfrm>
          <a:custGeom>
            <a:avLst/>
            <a:gdLst/>
            <a:ahLst/>
            <a:cxnLst/>
            <a:rect r="r" b="b" t="t" l="l"/>
            <a:pathLst>
              <a:path h="9840576" w="4526665">
                <a:moveTo>
                  <a:pt x="0" y="0"/>
                </a:moveTo>
                <a:lnTo>
                  <a:pt x="4526665" y="0"/>
                </a:lnTo>
                <a:lnTo>
                  <a:pt x="4526665" y="9840576"/>
                </a:lnTo>
                <a:lnTo>
                  <a:pt x="0" y="9840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90365"/>
            <a:ext cx="162306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TresStock - Sistema de Gestión de Inventario para Minimarket “Los Tres”, Puerto Montt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6172200"/>
            <a:ext cx="4394980" cy="4114800"/>
          </a:xfrm>
          <a:custGeom>
            <a:avLst/>
            <a:gdLst/>
            <a:ahLst/>
            <a:cxnLst/>
            <a:rect r="r" b="b" t="t" l="l"/>
            <a:pathLst>
              <a:path h="4114800" w="4394980">
                <a:moveTo>
                  <a:pt x="0" y="0"/>
                </a:moveTo>
                <a:lnTo>
                  <a:pt x="4394980" y="0"/>
                </a:lnTo>
                <a:lnTo>
                  <a:pt x="43949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3112151" y="-478849"/>
            <a:ext cx="5175849" cy="4114800"/>
          </a:xfrm>
          <a:custGeom>
            <a:avLst/>
            <a:gdLst/>
            <a:ahLst/>
            <a:cxnLst/>
            <a:rect r="r" b="b" t="t" l="l"/>
            <a:pathLst>
              <a:path h="4114800" w="5175849">
                <a:moveTo>
                  <a:pt x="0" y="0"/>
                </a:moveTo>
                <a:lnTo>
                  <a:pt x="5175849" y="0"/>
                </a:lnTo>
                <a:lnTo>
                  <a:pt x="51758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18361" y="1028700"/>
            <a:ext cx="9851277" cy="1716153"/>
            <a:chOff x="0" y="0"/>
            <a:chExt cx="13135037" cy="22882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29028" cy="2288204"/>
            </a:xfrm>
            <a:custGeom>
              <a:avLst/>
              <a:gdLst/>
              <a:ahLst/>
              <a:cxnLst/>
              <a:rect r="r" b="b" t="t" l="l"/>
              <a:pathLst>
                <a:path h="2288204" w="8529028">
                  <a:moveTo>
                    <a:pt x="0" y="0"/>
                  </a:moveTo>
                  <a:lnTo>
                    <a:pt x="8529028" y="0"/>
                  </a:lnTo>
                  <a:lnTo>
                    <a:pt x="8529028" y="2288204"/>
                  </a:lnTo>
                  <a:lnTo>
                    <a:pt x="0" y="228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847" t="-12562" r="-52074" b="-1465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8721729" y="0"/>
              <a:ext cx="4413308" cy="2288204"/>
            </a:xfrm>
            <a:custGeom>
              <a:avLst/>
              <a:gdLst/>
              <a:ahLst/>
              <a:cxnLst/>
              <a:rect r="r" b="b" t="t" l="l"/>
              <a:pathLst>
                <a:path h="2288204" w="4413308">
                  <a:moveTo>
                    <a:pt x="0" y="0"/>
                  </a:moveTo>
                  <a:lnTo>
                    <a:pt x="4413308" y="0"/>
                  </a:lnTo>
                  <a:lnTo>
                    <a:pt x="4413308" y="2288204"/>
                  </a:lnTo>
                  <a:lnTo>
                    <a:pt x="0" y="228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3597" t="-39744" r="-4530" b="-5192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57472" y="7608901"/>
            <a:ext cx="9173056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Integrantes</a:t>
            </a:r>
            <a:r>
              <a:rPr lang="en-US" sz="2699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: Sebastián Carrera, Yasna Villarroel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Docente: Aníbal Faúndez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Carrera: Ingeniería en Informática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Sede: Puerto Montt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2539E"/>
                </a:solidFill>
                <a:latin typeface="Bogart"/>
                <a:ea typeface="Bogart"/>
                <a:cs typeface="Bogart"/>
                <a:sym typeface="Bogart"/>
              </a:rPr>
              <a:t>31 de Agosto,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DAHT9bs-mIo</dc:identifier>
  <dcterms:modified xsi:type="dcterms:W3CDTF">2011-08-01T06:04:30Z</dcterms:modified>
  <cp:revision>1</cp:revision>
  <dc:title>TresStock_Capstone_Carrera_Villarroel</dc:title>
</cp:coreProperties>
</file>